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7"/>
      <p:bold r:id="rId48"/>
      <p:italic r:id="rId49"/>
      <p:boldItalic r:id="rId50"/>
    </p:embeddedFont>
    <p:embeddedFont>
      <p:font typeface="Georgia" panose="02040502050405020303" pitchFamily="18" charset="0"/>
      <p:regular r:id="rId51"/>
      <p:bold r:id="rId52"/>
      <p:italic r:id="rId53"/>
      <p:boldItalic r:id="rId54"/>
    </p:embeddedFont>
    <p:embeddedFont>
      <p:font typeface="Roboto" panose="02000000000000000000" pitchFamily="2" charset="0"/>
      <p:regular r:id="rId55"/>
      <p:bold r:id="rId56"/>
    </p:embeddedFont>
    <p:embeddedFont>
      <p:font typeface="Tahoma" panose="020B0604030504040204" pitchFamily="34" charset="0"/>
      <p:regular r:id="rId57"/>
      <p:bold r:id="rId58"/>
    </p:embeddedFont>
    <p:embeddedFont>
      <p:font typeface="Verdana" panose="020B0604030504040204" pitchFamily="34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107D7D-4402-4B29-8B6B-A2FF8F978C89}">
  <a:tblStyle styleId="{C7107D7D-4402-4B29-8B6B-A2FF8F978C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angularjs.org/snapshot-stable/docs/guide/concepts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98d3fc28b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d98d3fc28b_0_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2d98d3fc28b_0_7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847b1de38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847b1de38_1_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34847b1de38_1_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847b1de38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847b1de38_1_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framework calls your code, your code calls a library.</a:t>
            </a:r>
            <a:endParaRPr/>
          </a:p>
        </p:txBody>
      </p:sp>
      <p:sp>
        <p:nvSpPr>
          <p:cNvPr id="80" name="Google Shape;80;g34847b1de38_1_1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847b1de38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847b1de38_3_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131314"/>
                </a:solidFill>
                <a:highlight>
                  <a:srgbClr val="FFFFFF"/>
                </a:highlight>
              </a:rPr>
              <a:t>Superset: It includes all the features and syntax of standard JavaScript [Me, 19]. This means any valid JavaScript code is also valid TypeScript code (although TypeScript can enforce stricter rules)1 .</a:t>
            </a:r>
            <a:endParaRPr sz="85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131314"/>
                </a:solidFill>
                <a:highlight>
                  <a:srgbClr val="FFFFFF"/>
                </a:highlight>
              </a:rPr>
              <a:t>•</a:t>
            </a:r>
            <a:endParaRPr sz="85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131314"/>
                </a:solidFill>
                <a:highlight>
                  <a:srgbClr val="FFFFFF"/>
                </a:highlight>
              </a:rPr>
              <a:t>Typed: The key addition is the ability to define types for variables, parameters, function return values, and other entities in your code [Me, 19]. These types are checked during the development process (specifically, during compilation) to help catch potential errors before runtime1 . This can lead to more robust and maintainable code.</a:t>
            </a:r>
            <a:endParaRPr sz="85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131314"/>
                </a:solidFill>
                <a:highlight>
                  <a:srgbClr val="FFFFFF"/>
                </a:highlight>
              </a:rPr>
              <a:t>•</a:t>
            </a:r>
            <a:endParaRPr sz="85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131314"/>
                </a:solidFill>
                <a:highlight>
                  <a:srgbClr val="FFFFFF"/>
                </a:highlight>
              </a:rPr>
              <a:t>Compiles to plain JavaScript: Browsers can only understand JavaScript. Therefore, TypeScript code needs to be transpiled (compiled) into regular JavaScript before it can be executed in a web browser or other JavaScript environments like Node.js [Me, 19].</a:t>
            </a:r>
            <a:endParaRPr sz="85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131314"/>
                </a:solidFill>
                <a:highlight>
                  <a:srgbClr val="FFFFFF"/>
                </a:highlight>
              </a:rPr>
              <a:t>•</a:t>
            </a:r>
            <a:endParaRPr sz="85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131314"/>
                </a:solidFill>
                <a:highlight>
                  <a:srgbClr val="FFFFFF"/>
                </a:highlight>
              </a:rPr>
              <a:t>Additional Features: Besides type checking, typed supersets like TypeScript often introduce other features that are not present in the original JavaScript language, such as annotations (also known as decorators in some contexts) [Me, 19]. These features can provide metadata about the code and are often used by frameworks and libraries to extend the language's capabilities</a:t>
            </a:r>
            <a:endParaRPr sz="85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4847b1de38_3_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847b1de38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847b1de38_1_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4847b1de38_1_3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6a6235c69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6a6235c69_2_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d6a6235c69_2_7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847b1de38_1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847b1de38_1_20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4847b1de38_1_20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847b1de38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847b1de38_1_2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4847b1de38_1_21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847b1de38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847b1de38_1_2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4847b1de38_1_21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847b1de38_1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4847b1de38_1_2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4847b1de38_1_22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847b1de38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4847b1de38_3_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34847b1de38_3_3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4c400302d6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4c400302d6_0_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4c400302d6_0_2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12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847b1de38_1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847b1de38_1_25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4847b1de38_1_25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13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c400302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4c400302d6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4c400302d6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14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c400302d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4c400302d6_0_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4c400302d6_0_1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15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4c41332ef0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4c41332ef0_1_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4c41332ef0_1_3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16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4c41332ef0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4c41332ef0_1_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4c41332ef0_1_4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17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4c41332ef0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4c41332ef0_1_5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34c41332ef0_1_5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18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4847b1de38_1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4847b1de38_1_3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4847b1de38_1_32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19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4c41332ef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4c41332ef0_1_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34c41332ef0_1_4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20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4c41332ef0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4c41332ef0_1_6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4c41332ef0_1_6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21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4c41332ef0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4c41332ef0_1_8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4c41332ef0_1_8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22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4c41332ef0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4c41332ef0_1_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34c41332ef0_1_6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23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c41332ef0_1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4c41332ef0_1_1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Primero poner provideHttpClient(); de seguido, withFetch()</a:t>
            </a:r>
            <a:endParaRPr/>
          </a:p>
        </p:txBody>
      </p:sp>
      <p:sp>
        <p:nvSpPr>
          <p:cNvPr id="326" name="Google Shape;326;g34c41332ef0_1_12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4c41332ef0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4c41332ef0_1_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4c41332ef0_1_7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25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4c41332ef0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4c41332ef0_1_9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34c41332ef0_1_9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26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4c41332ef0_1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4c41332ef0_1_1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4c41332ef0_1_17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4c41332ef0_1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4c41332ef0_1_18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34c41332ef0_1_18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4c41332ef0_1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4c41332ef0_1_19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34c41332ef0_1_19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4c41332ef0_1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4c41332ef0_1_2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  <a:highlight>
                  <a:srgbClr val="FFFFFF"/>
                </a:highlight>
              </a:rPr>
              <a:t>1. ngOnChanges()</a:t>
            </a:r>
            <a:endParaRPr sz="1300"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When it's called: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 This hook is called every time the input properties of the component change. It is invoked before ngOnInit and whenever data-bound input properties (@Input()) change.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Use case: 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Ideal for responding to input changes from a parent component.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ngOnChanges(changes: SimpleChanges): </a:t>
            </a:r>
            <a:r>
              <a:rPr lang="en-US" sz="950">
                <a:solidFill>
                  <a:srgbClr val="DCC6E0"/>
                </a:solidFill>
                <a:highlight>
                  <a:srgbClr val="2B2B2B"/>
                </a:highlight>
              </a:rPr>
              <a:t>void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{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 </a:t>
            </a:r>
            <a:r>
              <a:rPr lang="en-US" sz="950">
                <a:solidFill>
                  <a:srgbClr val="F5AB35"/>
                </a:solidFill>
                <a:highlight>
                  <a:srgbClr val="2B2B2B"/>
                </a:highlight>
              </a:rPr>
              <a:t>console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.log(</a:t>
            </a:r>
            <a:r>
              <a:rPr lang="en-US" sz="950">
                <a:solidFill>
                  <a:srgbClr val="ABE338"/>
                </a:solidFill>
                <a:highlight>
                  <a:srgbClr val="2B2B2B"/>
                </a:highlight>
              </a:rPr>
              <a:t>'Changes detected:'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, changes);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63500" marR="635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}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  <a:highlight>
                  <a:srgbClr val="FFFFFF"/>
                </a:highlight>
              </a:rPr>
              <a:t>2. ngOnInit()</a:t>
            </a:r>
            <a:endParaRPr sz="1300"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When it's called: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 Called once, after the first ngOnChanges, it is used to initialize data in the component or to trigger services that need to run after the component is initialized.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Use case: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 Use it for component setup, such as fetching data or initializing the state.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ngOnInit(): </a:t>
            </a:r>
            <a:r>
              <a:rPr lang="en-US" sz="950">
                <a:solidFill>
                  <a:srgbClr val="DCC6E0"/>
                </a:solidFill>
                <a:highlight>
                  <a:srgbClr val="2B2B2B"/>
                </a:highlight>
              </a:rPr>
              <a:t>void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{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 </a:t>
            </a:r>
            <a:r>
              <a:rPr lang="en-US" sz="950">
                <a:solidFill>
                  <a:srgbClr val="F5AB35"/>
                </a:solidFill>
                <a:highlight>
                  <a:srgbClr val="2B2B2B"/>
                </a:highlight>
              </a:rPr>
              <a:t>console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.log(</a:t>
            </a:r>
            <a:r>
              <a:rPr lang="en-US" sz="950">
                <a:solidFill>
                  <a:srgbClr val="ABE338"/>
                </a:solidFill>
                <a:highlight>
                  <a:srgbClr val="2B2B2B"/>
                </a:highlight>
              </a:rPr>
              <a:t>'Component initialized!'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);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63500" marR="635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}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  <a:highlight>
                  <a:srgbClr val="FFFFFF"/>
                </a:highlight>
              </a:rPr>
              <a:t>3. ngDoCheck()</a:t>
            </a:r>
            <a:endParaRPr sz="1300"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When it's called: 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This hook is invoked during every change detection cycle, after ngOnChanges and ngOnInit, and before ngAfterContentChecked or ngAfterViewChecked.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Use case: 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You can use this to implement custom change detection, though it is rarely needed in most scenarios.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ngDoCheck(): </a:t>
            </a:r>
            <a:r>
              <a:rPr lang="en-US" sz="950">
                <a:solidFill>
                  <a:srgbClr val="DCC6E0"/>
                </a:solidFill>
                <a:highlight>
                  <a:srgbClr val="2B2B2B"/>
                </a:highlight>
              </a:rPr>
              <a:t>void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{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 </a:t>
            </a:r>
            <a:r>
              <a:rPr lang="en-US" sz="950">
                <a:solidFill>
                  <a:srgbClr val="F5AB35"/>
                </a:solidFill>
                <a:highlight>
                  <a:srgbClr val="2B2B2B"/>
                </a:highlight>
              </a:rPr>
              <a:t>console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.log(</a:t>
            </a:r>
            <a:r>
              <a:rPr lang="en-US" sz="950">
                <a:solidFill>
                  <a:srgbClr val="ABE338"/>
                </a:solidFill>
                <a:highlight>
                  <a:srgbClr val="2B2B2B"/>
                </a:highlight>
              </a:rPr>
              <a:t>'Change detection cycle triggered!'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);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63500" marR="635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}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  <a:highlight>
                  <a:srgbClr val="FFFFFF"/>
                </a:highlight>
              </a:rPr>
              <a:t>4. ngAfterContentInit()</a:t>
            </a:r>
            <a:endParaRPr sz="1300"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When it's called: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 Called once after Angular has fully initialized the component's content (i.e., the content projected into the component using ).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Use case: 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Useful for logic that needs to run once after content projection, such as interacting with content passed from the parent component.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ngAfterContentInit(): </a:t>
            </a:r>
            <a:r>
              <a:rPr lang="en-US" sz="950">
                <a:solidFill>
                  <a:srgbClr val="DCC6E0"/>
                </a:solidFill>
                <a:highlight>
                  <a:srgbClr val="2B2B2B"/>
                </a:highlight>
              </a:rPr>
              <a:t>void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{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 </a:t>
            </a:r>
            <a:r>
              <a:rPr lang="en-US" sz="950">
                <a:solidFill>
                  <a:srgbClr val="F5AB35"/>
                </a:solidFill>
                <a:highlight>
                  <a:srgbClr val="2B2B2B"/>
                </a:highlight>
              </a:rPr>
              <a:t>console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.log(</a:t>
            </a:r>
            <a:r>
              <a:rPr lang="en-US" sz="950">
                <a:solidFill>
                  <a:srgbClr val="ABE338"/>
                </a:solidFill>
                <a:highlight>
                  <a:srgbClr val="2B2B2B"/>
                </a:highlight>
              </a:rPr>
              <a:t>'Content projected into the component!'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);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63500" marR="635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}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  <a:highlight>
                  <a:srgbClr val="FFFFFF"/>
                </a:highlight>
              </a:rPr>
              <a:t>5. ngAfterContentChecked()</a:t>
            </a:r>
            <a:endParaRPr sz="1300"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When it's called: 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Called after every change detection cycle, but only after Angular has checked the content projected into the component (via ng-content).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Use case: 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Use it to perform actions after the content inside the component has been checked.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ngAfterContentChecked(): </a:t>
            </a:r>
            <a:r>
              <a:rPr lang="en-US" sz="950">
                <a:solidFill>
                  <a:srgbClr val="DCC6E0"/>
                </a:solidFill>
                <a:highlight>
                  <a:srgbClr val="2B2B2B"/>
                </a:highlight>
              </a:rPr>
              <a:t>void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{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 </a:t>
            </a:r>
            <a:r>
              <a:rPr lang="en-US" sz="950">
                <a:solidFill>
                  <a:srgbClr val="F5AB35"/>
                </a:solidFill>
                <a:highlight>
                  <a:srgbClr val="2B2B2B"/>
                </a:highlight>
              </a:rPr>
              <a:t>console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.log(</a:t>
            </a:r>
            <a:r>
              <a:rPr lang="en-US" sz="950">
                <a:solidFill>
                  <a:srgbClr val="ABE338"/>
                </a:solidFill>
                <a:highlight>
                  <a:srgbClr val="2B2B2B"/>
                </a:highlight>
              </a:rPr>
              <a:t>'Projected content checked!'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);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63500" marR="635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}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  <a:highlight>
                  <a:srgbClr val="FFFFFF"/>
                </a:highlight>
              </a:rPr>
              <a:t>6. ngAfterViewInit()</a:t>
            </a:r>
            <a:endParaRPr sz="1300"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When it's called: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 Called once after the component’s view and child views have been initialized. This is where you can access DOM elements or child components in the view.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Use case: 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Perform tasks that require access to the component's view (e.g., DOM manipulation using ViewChild).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ngAfterViewInit(): </a:t>
            </a:r>
            <a:r>
              <a:rPr lang="en-US" sz="950">
                <a:solidFill>
                  <a:srgbClr val="DCC6E0"/>
                </a:solidFill>
                <a:highlight>
                  <a:srgbClr val="2B2B2B"/>
                </a:highlight>
              </a:rPr>
              <a:t>void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{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 </a:t>
            </a:r>
            <a:r>
              <a:rPr lang="en-US" sz="950">
                <a:solidFill>
                  <a:srgbClr val="F5AB35"/>
                </a:solidFill>
                <a:highlight>
                  <a:srgbClr val="2B2B2B"/>
                </a:highlight>
              </a:rPr>
              <a:t>console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.log(</a:t>
            </a:r>
            <a:r>
              <a:rPr lang="en-US" sz="950">
                <a:solidFill>
                  <a:srgbClr val="ABE338"/>
                </a:solidFill>
                <a:highlight>
                  <a:srgbClr val="2B2B2B"/>
                </a:highlight>
              </a:rPr>
              <a:t>'Component view initialized!'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);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63500" marR="635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}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  <a:highlight>
                  <a:srgbClr val="FFFFFF"/>
                </a:highlight>
              </a:rPr>
              <a:t>7. ngAfterViewChecked()</a:t>
            </a:r>
            <a:endParaRPr sz="1300"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When it's called: 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This hook is invoked after every change detection cycle, but it happens after Angular has checked the component’s view and its children.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Use case: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 This can be used for tasks like detecting changes in the view or updating DOM elements after the view has been checked.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ngAfterViewChecked(): </a:t>
            </a:r>
            <a:r>
              <a:rPr lang="en-US" sz="950">
                <a:solidFill>
                  <a:srgbClr val="DCC6E0"/>
                </a:solidFill>
                <a:highlight>
                  <a:srgbClr val="2B2B2B"/>
                </a:highlight>
              </a:rPr>
              <a:t>void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{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 </a:t>
            </a:r>
            <a:r>
              <a:rPr lang="en-US" sz="950">
                <a:solidFill>
                  <a:srgbClr val="F5AB35"/>
                </a:solidFill>
                <a:highlight>
                  <a:srgbClr val="2B2B2B"/>
                </a:highlight>
              </a:rPr>
              <a:t>console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.log(</a:t>
            </a:r>
            <a:r>
              <a:rPr lang="en-US" sz="950">
                <a:solidFill>
                  <a:srgbClr val="ABE338"/>
                </a:solidFill>
                <a:highlight>
                  <a:srgbClr val="2B2B2B"/>
                </a:highlight>
              </a:rPr>
              <a:t>'Component view checked!'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);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63500" marR="635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}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  <a:highlight>
                  <a:srgbClr val="FFFFFF"/>
                </a:highlight>
              </a:rPr>
              <a:t>8. ngOnDestroy()</a:t>
            </a:r>
            <a:endParaRPr sz="1300"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When it's called: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 Called just before Angular destroys the component, this is where you should clean up resources, such as unsubscribing from observables or detaching event listeners, to prevent memory leaks.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8257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 b="1">
                <a:solidFill>
                  <a:schemeClr val="dk1"/>
                </a:solidFill>
                <a:highlight>
                  <a:srgbClr val="FFFFFF"/>
                </a:highlight>
              </a:rPr>
              <a:t>Use case: </a:t>
            </a: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Clean-up tasks like canceling timers, unsubscribing from observables, or removing event listeners.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ngOnDestroy(): </a:t>
            </a:r>
            <a:r>
              <a:rPr lang="en-US" sz="950">
                <a:solidFill>
                  <a:srgbClr val="DCC6E0"/>
                </a:solidFill>
                <a:highlight>
                  <a:srgbClr val="2B2B2B"/>
                </a:highlight>
              </a:rPr>
              <a:t>void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{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  </a:t>
            </a:r>
            <a:r>
              <a:rPr lang="en-US" sz="950">
                <a:solidFill>
                  <a:srgbClr val="F5AB35"/>
                </a:solidFill>
                <a:highlight>
                  <a:srgbClr val="2B2B2B"/>
                </a:highlight>
              </a:rPr>
              <a:t>console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.log(</a:t>
            </a:r>
            <a:r>
              <a:rPr lang="en-US" sz="950">
                <a:solidFill>
                  <a:srgbClr val="ABE338"/>
                </a:solidFill>
                <a:highlight>
                  <a:srgbClr val="2B2B2B"/>
                </a:highlight>
              </a:rPr>
              <a:t>'Component is about to be destroyed!'</a:t>
            </a: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);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63500" marR="635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F8F8F2"/>
                </a:solidFill>
                <a:highlight>
                  <a:srgbClr val="2B2B2B"/>
                </a:highlight>
              </a:rPr>
              <a:t>}</a:t>
            </a:r>
            <a:endParaRPr sz="950">
              <a:solidFill>
                <a:srgbClr val="F8F8F2"/>
              </a:solidFill>
              <a:highlight>
                <a:srgbClr val="2B2B2B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highlight>
                  <a:srgbClr val="FFFFFF"/>
                </a:highlight>
              </a:rPr>
              <a:t>‍</a:t>
            </a:r>
            <a:endParaRPr sz="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34c41332ef0_1_22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4c41332ef0_1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4c41332ef0_1_20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34c41332ef0_1_20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31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4c41332ef0_1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4c41332ef0_1_1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4c41332ef0_1_11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32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4c41332ef0_1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4c41332ef0_1_1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34c41332ef0_1_13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4c41332ef0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4c41332ef0_1_1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34c41332ef0_1_14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4c41332ef0_1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4c41332ef0_1_2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34c41332ef0_1_24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35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4c41332ef0_1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4c41332ef0_1_1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g34c41332ef0_1_16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4c41332ef0_1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4c41332ef0_1_2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4c41332ef0_1_24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4c4f913fa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4c4f913fa9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34c4f913fa9_0_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38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4c4f913fa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4c4f913fa9_0_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g34c4f913fa9_0_4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39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c4f913fa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c4f913fa9_0_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34c4f913fa9_0_5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762a5cef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d762a5cefa_0_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g3d762a5cefa_0_1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4c4f913fa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4c4f913fa9_0_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g34c4f913fa9_0_3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4c4f913fa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4c4f913fa9_0_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34c4f913fa9_0_6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4847b1de38_1_441:notes"/>
          <p:cNvSpPr txBox="1">
            <a:spLocks noGrp="1"/>
          </p:cNvSpPr>
          <p:nvPr>
            <p:ph type="body" idx="1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https://code.angularjs.org/snapshot-stable/docs/guide/concepts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https://www.w3schools.com/bootstrap/bootstrap_panels.asp</a:t>
            </a:r>
            <a:endParaRPr/>
          </a:p>
        </p:txBody>
      </p:sp>
      <p:sp>
        <p:nvSpPr>
          <p:cNvPr id="490" name="Google Shape;490;g34847b1de38_1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3639" y="792774"/>
            <a:ext cx="6290700" cy="3212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solidFill>
          <a:srgbClr val="8AA357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893100" y="981925"/>
            <a:ext cx="52509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20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457200" marR="0"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914400" marR="0"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1371600" marR="0"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1828800" marR="0"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4057650" y="2084425"/>
            <a:ext cx="49218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Georgia"/>
              <a:buNone/>
              <a:defRPr sz="1700" b="1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742950" marR="0" lvl="1" indent="-241300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–"/>
              <a:defRPr sz="210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143000" marR="0" lvl="2" indent="-209550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•"/>
              <a:defRPr sz="210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600200" marR="0" lvl="3" indent="-23495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–"/>
              <a:defRPr sz="210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057400" marR="0" lvl="4" indent="-23495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»"/>
              <a:defRPr sz="210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514600" marR="0" lvl="5" indent="-23495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»"/>
              <a:defRPr sz="210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2971800" marR="0" lvl="6" indent="-23495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»"/>
              <a:defRPr sz="210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429000" marR="0" lvl="7" indent="-23495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»"/>
              <a:defRPr sz="210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3886200" marR="0" lvl="8" indent="-23495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»"/>
              <a:defRPr sz="210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r="26112" b="9715"/>
          <a:stretch/>
        </p:blipFill>
        <p:spPr>
          <a:xfrm>
            <a:off x="4328250" y="3862950"/>
            <a:ext cx="4686397" cy="9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9950" y="-895950"/>
            <a:ext cx="4298425" cy="429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bg>
      <p:bgPr>
        <a:solidFill>
          <a:srgbClr val="FFFFFF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4663450"/>
            <a:ext cx="9148800" cy="480000"/>
          </a:xfrm>
          <a:prstGeom prst="rect">
            <a:avLst/>
          </a:prstGeom>
          <a:solidFill>
            <a:srgbClr val="8AA357"/>
          </a:solidFill>
          <a:ln w="9525" cap="flat" cmpd="sng">
            <a:solidFill>
              <a:srgbClr val="8AA3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2400"/>
              <a:buNone/>
              <a:defRPr sz="2400" b="0">
                <a:solidFill>
                  <a:srgbClr val="7D944E"/>
                </a:solidFill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110325" y="786225"/>
            <a:ext cx="8739600" cy="36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400"/>
              <a:buChar char="▪"/>
              <a:defRPr sz="2400">
                <a:solidFill>
                  <a:srgbClr val="7D944E"/>
                </a:solidFill>
              </a:defRPr>
            </a:lvl1pPr>
            <a:lvl2pPr marL="914400" lvl="1" indent="-355600"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000"/>
              <a:buChar char="–"/>
              <a:defRPr sz="2000">
                <a:solidFill>
                  <a:srgbClr val="666666"/>
                </a:solidFill>
              </a:defRPr>
            </a:lvl2pPr>
            <a:lvl3pPr marL="1371600" lvl="2" indent="-342900">
              <a:spcBef>
                <a:spcPts val="480"/>
              </a:spcBef>
              <a:spcAft>
                <a:spcPts val="0"/>
              </a:spcAft>
              <a:buClr>
                <a:srgbClr val="7D944E"/>
              </a:buClr>
              <a:buSzPts val="1800"/>
              <a:buChar char="•"/>
              <a:defRPr sz="1800">
                <a:solidFill>
                  <a:srgbClr val="666666"/>
                </a:solidFill>
              </a:defRPr>
            </a:lvl3pPr>
            <a:lvl4pPr marL="1828800" lvl="3" indent="-31115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–"/>
              <a:defRPr>
                <a:solidFill>
                  <a:srgbClr val="666666"/>
                </a:solidFill>
              </a:defRPr>
            </a:lvl4pPr>
            <a:lvl5pPr marL="2286000" lvl="4" indent="-31115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5pPr>
            <a:lvl6pPr marL="2743200" lvl="5" indent="-31115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6pPr>
            <a:lvl7pPr marL="3200400" lvl="6" indent="-31115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7pPr>
            <a:lvl8pPr marL="3657600" lvl="7" indent="-31115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8pPr>
            <a:lvl9pPr marL="4114800" lvl="8" indent="-31115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9pPr>
          </a:lstStyle>
          <a:p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 amt="15000"/>
          </a:blip>
          <a:srcRect r="24919" b="11229"/>
          <a:stretch/>
        </p:blipFill>
        <p:spPr>
          <a:xfrm>
            <a:off x="5802775" y="1109650"/>
            <a:ext cx="3411525" cy="403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t="14763" r="26112" b="21024"/>
          <a:stretch/>
        </p:blipFill>
        <p:spPr>
          <a:xfrm>
            <a:off x="6202175" y="4680900"/>
            <a:ext cx="2946627" cy="445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3"/>
          <p:cNvCxnSpPr/>
          <p:nvPr/>
        </p:nvCxnSpPr>
        <p:spPr>
          <a:xfrm>
            <a:off x="850" y="4674750"/>
            <a:ext cx="9129900" cy="75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bg>
      <p:bgPr>
        <a:solidFill>
          <a:srgbClr val="8AA357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7958503" y="4910138"/>
            <a:ext cx="12558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0" y="4663450"/>
            <a:ext cx="9148800" cy="480000"/>
          </a:xfrm>
          <a:prstGeom prst="rect">
            <a:avLst/>
          </a:prstGeom>
          <a:solidFill>
            <a:srgbClr val="8AA357"/>
          </a:solidFill>
          <a:ln w="9525" cap="flat" cmpd="sng">
            <a:solidFill>
              <a:srgbClr val="8AA3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 t="14763" r="26112" b="21024"/>
          <a:stretch/>
        </p:blipFill>
        <p:spPr>
          <a:xfrm>
            <a:off x="6202175" y="4680900"/>
            <a:ext cx="2946627" cy="44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l="27452" t="20842"/>
          <a:stretch/>
        </p:blipFill>
        <p:spPr>
          <a:xfrm>
            <a:off x="0" y="0"/>
            <a:ext cx="3118475" cy="340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" name="Google Shape;33;p4"/>
          <p:cNvCxnSpPr/>
          <p:nvPr/>
        </p:nvCxnSpPr>
        <p:spPr>
          <a:xfrm>
            <a:off x="850" y="4674750"/>
            <a:ext cx="9129900" cy="75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 2">
  <p:cSld name="TITLE_ONLY_2">
    <p:bg>
      <p:bgPr>
        <a:solidFill>
          <a:srgbClr val="B7B7B7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7958503" y="4910138"/>
            <a:ext cx="12558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0" y="4663450"/>
            <a:ext cx="9148800" cy="480000"/>
          </a:xfrm>
          <a:prstGeom prst="rect">
            <a:avLst/>
          </a:prstGeom>
          <a:solidFill>
            <a:srgbClr val="8AA357"/>
          </a:solidFill>
          <a:ln w="9525" cap="flat" cmpd="sng">
            <a:solidFill>
              <a:srgbClr val="8AA3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2">
            <a:alphaModFix/>
          </a:blip>
          <a:srcRect t="14763" r="26112" b="21024"/>
          <a:stretch/>
        </p:blipFill>
        <p:spPr>
          <a:xfrm>
            <a:off x="6202175" y="4680900"/>
            <a:ext cx="2946627" cy="44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 rotWithShape="1">
          <a:blip r:embed="rId3">
            <a:alphaModFix/>
          </a:blip>
          <a:srcRect l="27452" t="20842"/>
          <a:stretch/>
        </p:blipFill>
        <p:spPr>
          <a:xfrm>
            <a:off x="0" y="0"/>
            <a:ext cx="3118475" cy="340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5"/>
          <p:cNvCxnSpPr/>
          <p:nvPr/>
        </p:nvCxnSpPr>
        <p:spPr>
          <a:xfrm>
            <a:off x="850" y="4674750"/>
            <a:ext cx="9129900" cy="75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 1">
  <p:cSld name="TITLE_ONLY_1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7958503" y="4910138"/>
            <a:ext cx="12558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0" y="4663450"/>
            <a:ext cx="9148800" cy="480000"/>
          </a:xfrm>
          <a:prstGeom prst="rect">
            <a:avLst/>
          </a:prstGeom>
          <a:solidFill>
            <a:srgbClr val="8AA357"/>
          </a:solidFill>
          <a:ln w="9525" cap="flat" cmpd="sng">
            <a:solidFill>
              <a:srgbClr val="8AA3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t="14763" r="26112" b="21024"/>
          <a:stretch/>
        </p:blipFill>
        <p:spPr>
          <a:xfrm>
            <a:off x="6202175" y="4680900"/>
            <a:ext cx="2946627" cy="44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l="27452" t="20842"/>
          <a:stretch/>
        </p:blipFill>
        <p:spPr>
          <a:xfrm>
            <a:off x="0" y="0"/>
            <a:ext cx="3118475" cy="340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" name="Google Shape;47;p6"/>
          <p:cNvCxnSpPr/>
          <p:nvPr/>
        </p:nvCxnSpPr>
        <p:spPr>
          <a:xfrm rot="10800000" flipH="1">
            <a:off x="850" y="4682425"/>
            <a:ext cx="9129900" cy="1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l">
  <p:cSld name="CUSTOM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7D94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76200" y="682228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7D944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spcBef>
                <a:spcPts val="480"/>
              </a:spcBef>
              <a:spcAft>
                <a:spcPts val="0"/>
              </a:spcAft>
              <a:buClr>
                <a:srgbClr val="7D944E"/>
              </a:buClr>
              <a:buSzPts val="1400"/>
              <a:buFont typeface="Arial"/>
              <a:buChar char="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0" y="4663450"/>
            <a:ext cx="9148800" cy="4800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" name="Google Shape;52;p7"/>
          <p:cNvCxnSpPr/>
          <p:nvPr/>
        </p:nvCxnSpPr>
        <p:spPr>
          <a:xfrm>
            <a:off x="850" y="4674750"/>
            <a:ext cx="9129900" cy="7500"/>
          </a:xfrm>
          <a:prstGeom prst="straightConnector1">
            <a:avLst/>
          </a:prstGeom>
          <a:noFill/>
          <a:ln w="19050" cap="flat" cmpd="sng">
            <a:solidFill>
              <a:srgbClr val="8AA357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53" name="Google Shape;53;p7" title="Portadas - Frame 28.jpg"/>
          <p:cNvPicPr preferRelativeResize="0"/>
          <p:nvPr/>
        </p:nvPicPr>
        <p:blipFill rotWithShape="1">
          <a:blip r:embed="rId2">
            <a:alphaModFix/>
          </a:blip>
          <a:srcRect l="902" t="9666"/>
          <a:stretch/>
        </p:blipFill>
        <p:spPr>
          <a:xfrm>
            <a:off x="6239775" y="4709850"/>
            <a:ext cx="2744100" cy="4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l 1">
  <p:cSld name="CUSTOM_1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7D94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1"/>
          </p:nvPr>
        </p:nvSpPr>
        <p:spPr>
          <a:xfrm>
            <a:off x="76200" y="682228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7D944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spcBef>
                <a:spcPts val="480"/>
              </a:spcBef>
              <a:spcAft>
                <a:spcPts val="0"/>
              </a:spcAft>
              <a:buClr>
                <a:srgbClr val="7D944E"/>
              </a:buClr>
              <a:buSzPts val="1400"/>
              <a:buFont typeface="Arial"/>
              <a:buChar char="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/>
          <p:nvPr/>
        </p:nvSpPr>
        <p:spPr>
          <a:xfrm>
            <a:off x="0" y="4663450"/>
            <a:ext cx="9148800" cy="480000"/>
          </a:xfrm>
          <a:prstGeom prst="rect">
            <a:avLst/>
          </a:prstGeom>
          <a:solidFill>
            <a:srgbClr val="ED963D">
              <a:alpha val="53130"/>
            </a:srgbClr>
          </a:solidFill>
          <a:ln w="9525" cap="flat" cmpd="sng">
            <a:solidFill>
              <a:srgbClr val="ED9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" name="Google Shape;58;p8"/>
          <p:cNvCxnSpPr/>
          <p:nvPr/>
        </p:nvCxnSpPr>
        <p:spPr>
          <a:xfrm>
            <a:off x="850" y="4674750"/>
            <a:ext cx="9129900" cy="7500"/>
          </a:xfrm>
          <a:prstGeom prst="straightConnector1">
            <a:avLst/>
          </a:prstGeom>
          <a:noFill/>
          <a:ln w="19050" cap="flat" cmpd="sng">
            <a:solidFill>
              <a:srgbClr val="8AA357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59" name="Google Shape;59;p8" title="Portadas - Frame 28 (1)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86714" y="4686650"/>
            <a:ext cx="2501509" cy="433600"/>
          </a:xfrm>
          <a:prstGeom prst="rect">
            <a:avLst/>
          </a:prstGeom>
          <a:solidFill>
            <a:srgbClr val="ED963D">
              <a:alpha val="53130"/>
            </a:srgbClr>
          </a:solidFill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(g3d6a6235c69_9_0)"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2400"/>
              <a:buNone/>
              <a:defRPr sz="2400" b="0">
                <a:solidFill>
                  <a:srgbClr val="7D944E"/>
                </a:solidFill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457200" marR="0" lvl="5" indent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914400" marR="0" lvl="6" indent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1371600" marR="0" lvl="7" indent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1828800" marR="0" lvl="8" indent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110325" y="786225"/>
            <a:ext cx="8739600" cy="36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400"/>
              <a:buChar char="▪"/>
              <a:defRPr sz="2400">
                <a:solidFill>
                  <a:srgbClr val="7D944E"/>
                </a:solidFill>
              </a:defRPr>
            </a:lvl1pPr>
            <a:lvl2pPr marL="914400" lvl="1" indent="-355600"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000"/>
              <a:buChar char="–"/>
              <a:defRPr sz="2000">
                <a:solidFill>
                  <a:srgbClr val="666666"/>
                </a:solidFill>
              </a:defRPr>
            </a:lvl2pPr>
            <a:lvl3pPr marL="1371600" lvl="2" indent="-342900">
              <a:spcBef>
                <a:spcPts val="480"/>
              </a:spcBef>
              <a:spcAft>
                <a:spcPts val="0"/>
              </a:spcAft>
              <a:buClr>
                <a:srgbClr val="7D944E"/>
              </a:buClr>
              <a:buSzPts val="1800"/>
              <a:buChar char="•"/>
              <a:defRPr sz="1800">
                <a:solidFill>
                  <a:srgbClr val="666666"/>
                </a:solidFill>
              </a:defRPr>
            </a:lvl3pPr>
            <a:lvl4pPr marL="1828800" lvl="3" indent="-31115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–"/>
              <a:defRPr>
                <a:solidFill>
                  <a:srgbClr val="666666"/>
                </a:solidFill>
              </a:defRPr>
            </a:lvl4pPr>
            <a:lvl5pPr marL="2286000" lvl="4" indent="-31115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5pPr>
            <a:lvl6pPr marL="2743200" lvl="5" indent="-31115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6pPr>
            <a:lvl7pPr marL="3200400" lvl="6" indent="-31115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7pPr>
            <a:lvl8pPr marL="3657600" lvl="7" indent="-31115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8pPr>
            <a:lvl9pPr marL="4114800" lvl="8" indent="-31115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52400" y="229625"/>
            <a:ext cx="84582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2400"/>
              <a:buNone/>
              <a:defRPr sz="2400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sz="3200" b="1" i="0" u="none" strike="noStrike" cap="non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sz="3200" b="1" i="0" u="none" strike="noStrike" cap="non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sz="3200" b="1" i="0" u="none" strike="noStrike" cap="non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sz="3200" b="1" i="0" u="none" strike="noStrike" cap="non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sz="3200" b="1" i="0" u="none" strike="noStrike" cap="non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sz="3200" b="1" i="0" u="none" strike="noStrike" cap="non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sz="3200" b="1" i="0" u="none" strike="noStrike" cap="non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sz="3200" b="1" i="0" u="none" strike="noStrike" cap="non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52400" y="885228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400"/>
              <a:buFont typeface="Noto Sans Symbols"/>
              <a:buChar char="▪"/>
              <a:defRPr sz="2400">
                <a:solidFill>
                  <a:srgbClr val="7D944E"/>
                </a:solidFill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000"/>
              <a:buFont typeface="Arial"/>
              <a:buChar char="–"/>
              <a:defRPr sz="2000">
                <a:solidFill>
                  <a:srgbClr val="666666"/>
                </a:solidFill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D944E"/>
              </a:buClr>
              <a:buSzPts val="1800"/>
              <a:buFont typeface="Arial"/>
              <a:buChar char="•"/>
              <a:defRPr sz="1800">
                <a:solidFill>
                  <a:srgbClr val="666666"/>
                </a:solidFill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–"/>
              <a:defRPr sz="13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»"/>
              <a:defRPr sz="13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»"/>
              <a:defRPr sz="13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»"/>
              <a:defRPr sz="13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»"/>
              <a:defRPr sz="13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»"/>
              <a:defRPr sz="13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ynd.academy/blog/what-is-a-component-in-angular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978-1-4842-9609-7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ctrTitle"/>
          </p:nvPr>
        </p:nvSpPr>
        <p:spPr>
          <a:xfrm>
            <a:off x="3893100" y="981925"/>
            <a:ext cx="4549800" cy="110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Angular</a:t>
            </a: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ubTitle" idx="1"/>
          </p:nvPr>
        </p:nvSpPr>
        <p:spPr>
          <a:xfrm>
            <a:off x="4057650" y="2084425"/>
            <a:ext cx="4921800" cy="7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dirty="0"/>
              <a:t>IF0009 Desarrollo de Software IV</a:t>
            </a:r>
            <a:endParaRPr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dirty="0"/>
              <a:t>II-2026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es Angular?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es Angular?</a:t>
            </a: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4294967295"/>
          </p:nvPr>
        </p:nvSpPr>
        <p:spPr>
          <a:xfrm>
            <a:off x="202200" y="1063225"/>
            <a:ext cx="8484600" cy="17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US" sz="1800">
                <a:solidFill>
                  <a:schemeClr val="dk1"/>
                </a:solidFill>
              </a:rPr>
              <a:t>Framework de desarrollo web multiplataforma</a:t>
            </a:r>
            <a:endParaRPr sz="1800"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Se puede utilizar para desarrollar aplicaciones web, de escritorio, móviles y Single Page Application(SPA)</a:t>
            </a: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84" name="Google Shape;8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115" y="2647925"/>
            <a:ext cx="6628809" cy="171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es Angular?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4294967295"/>
          </p:nvPr>
        </p:nvSpPr>
        <p:spPr>
          <a:xfrm>
            <a:off x="202200" y="1063225"/>
            <a:ext cx="8484600" cy="22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▪"/>
            </a:pPr>
            <a:r>
              <a:rPr lang="en-US" sz="2100">
                <a:solidFill>
                  <a:schemeClr val="dk1"/>
                </a:solidFill>
              </a:rPr>
              <a:t>Proporciona una estructura lista para soportar el desarrollo de aplicaciones web</a:t>
            </a:r>
            <a:endParaRPr sz="2100">
              <a:solidFill>
                <a:schemeClr val="dk1"/>
              </a:solidFill>
            </a:endParaRPr>
          </a:p>
          <a:p>
            <a: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 sz="2000">
                <a:solidFill>
                  <a:srgbClr val="666666"/>
                </a:solidFill>
              </a:rPr>
              <a:t>Esta</a:t>
            </a:r>
            <a:r>
              <a:rPr lang="en-US"/>
              <a:t> estructura incluye </a:t>
            </a:r>
            <a:r>
              <a:rPr lang="en-US" b="1">
                <a:solidFill>
                  <a:srgbClr val="7D944E"/>
                </a:solidFill>
              </a:rPr>
              <a:t>Services</a:t>
            </a:r>
            <a:r>
              <a:rPr lang="en-US"/>
              <a:t>, </a:t>
            </a:r>
            <a:r>
              <a:rPr lang="en-US" b="1">
                <a:solidFill>
                  <a:srgbClr val="7D944E"/>
                </a:solidFill>
              </a:rPr>
              <a:t>Components</a:t>
            </a:r>
            <a:r>
              <a:rPr lang="en-US"/>
              <a:t>, </a:t>
            </a:r>
            <a:r>
              <a:rPr lang="en-US" b="1">
                <a:solidFill>
                  <a:srgbClr val="7D944E"/>
                </a:solidFill>
              </a:rPr>
              <a:t>Pipes</a:t>
            </a:r>
            <a:endParaRPr/>
          </a:p>
          <a:p>
            <a:pPr marL="914400" lvl="1" indent="-406400" algn="l" rtl="0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Se desarrolla en </a:t>
            </a:r>
            <a:r>
              <a:rPr lang="en-US" b="1">
                <a:solidFill>
                  <a:srgbClr val="7D944E"/>
                </a:solidFill>
              </a:rPr>
              <a:t>Typescript</a:t>
            </a:r>
            <a:r>
              <a:rPr lang="en-US"/>
              <a:t>, un superconjunto tipado de Javascript que se compila a Javascript plano</a:t>
            </a: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 rot="711236" flipH="1">
            <a:off x="6398437" y="2627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Evolución de Angular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 rot="-711236">
            <a:off x="5170350" y="2627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4"/>
          <p:cNvSpPr/>
          <p:nvPr/>
        </p:nvSpPr>
        <p:spPr>
          <a:xfrm rot="711236" flipH="1">
            <a:off x="3885612" y="2627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4290775" y="2683244"/>
            <a:ext cx="1712700" cy="1230715"/>
            <a:chOff x="5796625" y="2541798"/>
            <a:chExt cx="1712700" cy="1230715"/>
          </a:xfrm>
        </p:grpSpPr>
        <p:sp>
          <p:nvSpPr>
            <p:cNvPr id="102" name="Google Shape;102;p14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6296613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800" b="1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2017 (Nov)</a:t>
              </a:r>
              <a:endParaRPr sz="800" b="1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796625" y="3069013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5840875" y="31062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Lorem ipsum dolor sit amet, consectetur adipiscing. Lorem ipsum dolor sit.</a:t>
              </a:r>
              <a:endParaRPr sz="800">
                <a:solidFill>
                  <a:srgbClr val="5E5E5E"/>
                </a:solidFill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14"/>
          <p:cNvSpPr/>
          <p:nvPr/>
        </p:nvSpPr>
        <p:spPr>
          <a:xfrm rot="-711236">
            <a:off x="2604538" y="2627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3037700" y="1382072"/>
            <a:ext cx="1712700" cy="1246754"/>
            <a:chOff x="4409300" y="1219942"/>
            <a:chExt cx="1712700" cy="1246754"/>
          </a:xfrm>
        </p:grpSpPr>
        <p:sp>
          <p:nvSpPr>
            <p:cNvPr id="109" name="Google Shape;109;p14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4820300" y="1985296"/>
              <a:ext cx="9840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800" b="1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2017 (Marzo)</a:t>
              </a:r>
              <a:endParaRPr sz="800" b="1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4409300" y="1219942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4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4453550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Lorem ipsum dolor sit amet, consectetur adipiscing. Lorem ipsum dolor sit.</a:t>
              </a:r>
              <a:endParaRPr sz="800">
                <a:solidFill>
                  <a:srgbClr val="5E5E5E"/>
                </a:solidFill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 rot="711236" flipH="1">
            <a:off x="1312858" y="2627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1781288" y="2683244"/>
            <a:ext cx="1712700" cy="1230715"/>
            <a:chOff x="3021975" y="2541798"/>
            <a:chExt cx="1712700" cy="1230715"/>
          </a:xfrm>
        </p:grpSpPr>
        <p:sp>
          <p:nvSpPr>
            <p:cNvPr id="116" name="Google Shape;116;p14"/>
            <p:cNvSpPr txBox="1"/>
            <p:nvPr/>
          </p:nvSpPr>
          <p:spPr>
            <a:xfrm>
              <a:off x="3529877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800" b="1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2014</a:t>
              </a:r>
              <a:endParaRPr sz="800" b="1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701C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4"/>
            <p:cNvSpPr txBox="1"/>
            <p:nvPr/>
          </p:nvSpPr>
          <p:spPr>
            <a:xfrm>
              <a:off x="3066225" y="31062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Lorem ipsum dolor sit amet, consectetur adipiscing. Lorem ipsum dolor sit.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" name="Google Shape;121;p14"/>
          <p:cNvSpPr/>
          <p:nvPr/>
        </p:nvSpPr>
        <p:spPr>
          <a:xfrm rot="-711236">
            <a:off x="38733" y="2627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" name="Google Shape;122;p14"/>
          <p:cNvGrpSpPr/>
          <p:nvPr/>
        </p:nvGrpSpPr>
        <p:grpSpPr>
          <a:xfrm>
            <a:off x="494475" y="1382072"/>
            <a:ext cx="1712700" cy="1246754"/>
            <a:chOff x="1637475" y="1219942"/>
            <a:chExt cx="1712700" cy="1246754"/>
          </a:xfrm>
        </p:grpSpPr>
        <p:sp>
          <p:nvSpPr>
            <p:cNvPr id="123" name="Google Shape;123;p14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4"/>
            <p:cNvSpPr txBox="1"/>
            <p:nvPr/>
          </p:nvSpPr>
          <p:spPr>
            <a:xfrm>
              <a:off x="2144544" y="1985297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800" b="1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2009</a:t>
              </a:r>
              <a:endParaRPr sz="800" b="1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4"/>
            <p:cNvSpPr txBox="1"/>
            <p:nvPr/>
          </p:nvSpPr>
          <p:spPr>
            <a:xfrm>
              <a:off x="1681725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Lorem ipsum dolor sit amet, consectetur adipiscing. Lorem ipsum dolor sit.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701C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" name="Google Shape;128;p14"/>
          <p:cNvSpPr/>
          <p:nvPr/>
        </p:nvSpPr>
        <p:spPr>
          <a:xfrm rot="-711236">
            <a:off x="5170350" y="2627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4"/>
          <p:cNvSpPr/>
          <p:nvPr/>
        </p:nvSpPr>
        <p:spPr>
          <a:xfrm rot="711236" flipH="1">
            <a:off x="3885612" y="2627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" name="Google Shape;130;p14"/>
          <p:cNvGrpSpPr/>
          <p:nvPr/>
        </p:nvGrpSpPr>
        <p:grpSpPr>
          <a:xfrm>
            <a:off x="4290775" y="2683244"/>
            <a:ext cx="1712700" cy="1230715"/>
            <a:chOff x="5796625" y="2541798"/>
            <a:chExt cx="1712700" cy="1230715"/>
          </a:xfrm>
        </p:grpSpPr>
        <p:sp>
          <p:nvSpPr>
            <p:cNvPr id="131" name="Google Shape;131;p14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5796625" y="3069013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4"/>
            <p:cNvSpPr txBox="1"/>
            <p:nvPr/>
          </p:nvSpPr>
          <p:spPr>
            <a:xfrm>
              <a:off x="5840875" y="31062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24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Angular 5</a:t>
              </a:r>
              <a:endParaRPr sz="2400">
                <a:solidFill>
                  <a:srgbClr val="5E5E5E"/>
                </a:solidFill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14"/>
          <p:cNvSpPr/>
          <p:nvPr/>
        </p:nvSpPr>
        <p:spPr>
          <a:xfrm rot="-711236">
            <a:off x="2604538" y="2627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" name="Google Shape;136;p14"/>
          <p:cNvGrpSpPr/>
          <p:nvPr/>
        </p:nvGrpSpPr>
        <p:grpSpPr>
          <a:xfrm>
            <a:off x="3037700" y="1382072"/>
            <a:ext cx="1712700" cy="1246754"/>
            <a:chOff x="4409300" y="1219942"/>
            <a:chExt cx="1712700" cy="1246754"/>
          </a:xfrm>
        </p:grpSpPr>
        <p:sp>
          <p:nvSpPr>
            <p:cNvPr id="137" name="Google Shape;137;p14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409300" y="1219942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4"/>
            <p:cNvSpPr txBox="1"/>
            <p:nvPr/>
          </p:nvSpPr>
          <p:spPr>
            <a:xfrm>
              <a:off x="4453550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24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Angular 4</a:t>
              </a:r>
              <a:endParaRPr sz="2400">
                <a:solidFill>
                  <a:srgbClr val="5E5E5E"/>
                </a:solidFill>
              </a:endParaRPr>
            </a:p>
          </p:txBody>
        </p:sp>
      </p:grpSp>
      <p:sp>
        <p:nvSpPr>
          <p:cNvPr id="141" name="Google Shape;141;p14"/>
          <p:cNvSpPr/>
          <p:nvPr/>
        </p:nvSpPr>
        <p:spPr>
          <a:xfrm rot="711236" flipH="1">
            <a:off x="1312858" y="2627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14"/>
          <p:cNvGrpSpPr/>
          <p:nvPr/>
        </p:nvGrpSpPr>
        <p:grpSpPr>
          <a:xfrm>
            <a:off x="1781288" y="2683244"/>
            <a:ext cx="1712700" cy="1230715"/>
            <a:chOff x="3021975" y="2541798"/>
            <a:chExt cx="1712700" cy="1230715"/>
          </a:xfrm>
        </p:grpSpPr>
        <p:sp>
          <p:nvSpPr>
            <p:cNvPr id="143" name="Google Shape;143;p14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701C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4"/>
            <p:cNvSpPr txBox="1"/>
            <p:nvPr/>
          </p:nvSpPr>
          <p:spPr>
            <a:xfrm>
              <a:off x="3066225" y="31062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Angular 2</a:t>
              </a:r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14"/>
          <p:cNvSpPr/>
          <p:nvPr/>
        </p:nvSpPr>
        <p:spPr>
          <a:xfrm rot="-711236">
            <a:off x="38733" y="2627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14"/>
          <p:cNvGrpSpPr/>
          <p:nvPr/>
        </p:nvGrpSpPr>
        <p:grpSpPr>
          <a:xfrm>
            <a:off x="494475" y="1382072"/>
            <a:ext cx="1712700" cy="1246754"/>
            <a:chOff x="1637475" y="1219942"/>
            <a:chExt cx="1712700" cy="1246754"/>
          </a:xfrm>
        </p:grpSpPr>
        <p:sp>
          <p:nvSpPr>
            <p:cNvPr id="149" name="Google Shape;149;p14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4"/>
            <p:cNvSpPr txBox="1"/>
            <p:nvPr/>
          </p:nvSpPr>
          <p:spPr>
            <a:xfrm>
              <a:off x="1681725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AngularJS</a:t>
              </a:r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701C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" name="Google Shape;153;p14"/>
          <p:cNvGrpSpPr/>
          <p:nvPr/>
        </p:nvGrpSpPr>
        <p:grpSpPr>
          <a:xfrm>
            <a:off x="5580925" y="1382072"/>
            <a:ext cx="1712700" cy="1246754"/>
            <a:chOff x="4409300" y="1219942"/>
            <a:chExt cx="1712700" cy="1246754"/>
          </a:xfrm>
        </p:grpSpPr>
        <p:sp>
          <p:nvSpPr>
            <p:cNvPr id="154" name="Google Shape;154;p14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409300" y="1219942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4"/>
            <p:cNvSpPr txBox="1"/>
            <p:nvPr/>
          </p:nvSpPr>
          <p:spPr>
            <a:xfrm>
              <a:off x="4453550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24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Angular 6</a:t>
              </a:r>
              <a:endParaRPr sz="2400">
                <a:solidFill>
                  <a:srgbClr val="5E5E5E"/>
                </a:solidFill>
              </a:endParaRPr>
            </a:p>
          </p:txBody>
        </p:sp>
      </p:grpSp>
      <p:sp>
        <p:nvSpPr>
          <p:cNvPr id="158" name="Google Shape;158;p14"/>
          <p:cNvSpPr txBox="1"/>
          <p:nvPr/>
        </p:nvSpPr>
        <p:spPr>
          <a:xfrm>
            <a:off x="5905025" y="2123750"/>
            <a:ext cx="9840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800" b="1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rPr>
              <a:t>2018 (Mayo)</a:t>
            </a:r>
            <a:endParaRPr sz="800" b="1">
              <a:solidFill>
                <a:srgbClr val="5E5E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9" name="Google Shape;159;p14"/>
          <p:cNvGrpSpPr/>
          <p:nvPr/>
        </p:nvGrpSpPr>
        <p:grpSpPr>
          <a:xfrm>
            <a:off x="6663236" y="2705139"/>
            <a:ext cx="2168621" cy="1384061"/>
            <a:chOff x="5796623" y="2465598"/>
            <a:chExt cx="1712700" cy="1332109"/>
          </a:xfrm>
        </p:grpSpPr>
        <p:sp>
          <p:nvSpPr>
            <p:cNvPr id="160" name="Google Shape;160;p14"/>
            <p:cNvSpPr/>
            <p:nvPr/>
          </p:nvSpPr>
          <p:spPr>
            <a:xfrm rot="-1789476">
              <a:off x="6572742" y="2494872"/>
              <a:ext cx="160451" cy="160451"/>
            </a:xfrm>
            <a:prstGeom prst="ellipse">
              <a:avLst/>
            </a:prstGeom>
            <a:solidFill>
              <a:srgbClr val="701C7F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5796623" y="3069007"/>
              <a:ext cx="1712700" cy="7287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4"/>
            <p:cNvSpPr txBox="1"/>
            <p:nvPr/>
          </p:nvSpPr>
          <p:spPr>
            <a:xfrm>
              <a:off x="5818677" y="3144335"/>
              <a:ext cx="1668600" cy="55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Angular v19</a:t>
              </a:r>
              <a:endParaRPr sz="2400">
                <a:solidFill>
                  <a:schemeClr val="lt1"/>
                </a:solidFill>
              </a:endParaRPr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14"/>
          <p:cNvSpPr txBox="1"/>
          <p:nvPr/>
        </p:nvSpPr>
        <p:spPr>
          <a:xfrm>
            <a:off x="7149925" y="2929200"/>
            <a:ext cx="9840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800" b="1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rPr>
              <a:t>2024</a:t>
            </a:r>
            <a:endParaRPr sz="800" b="1">
              <a:solidFill>
                <a:srgbClr val="5E5E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/>
          <p:nvPr/>
        </p:nvSpPr>
        <p:spPr>
          <a:xfrm>
            <a:off x="0" y="4663450"/>
            <a:ext cx="9148800" cy="480000"/>
          </a:xfrm>
          <a:prstGeom prst="rect">
            <a:avLst/>
          </a:prstGeom>
          <a:solidFill>
            <a:srgbClr val="8AA357"/>
          </a:solidFill>
          <a:ln w="9525" cap="flat" cmpd="sng">
            <a:solidFill>
              <a:srgbClr val="8AA3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1" name="Google Shape;171;p15"/>
          <p:cNvPicPr preferRelativeResize="0"/>
          <p:nvPr/>
        </p:nvPicPr>
        <p:blipFill rotWithShape="1">
          <a:blip r:embed="rId3">
            <a:alphaModFix/>
          </a:blip>
          <a:srcRect t="14763" r="26112" b="21024"/>
          <a:stretch/>
        </p:blipFill>
        <p:spPr>
          <a:xfrm>
            <a:off x="6202175" y="4680900"/>
            <a:ext cx="2946627" cy="445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5"/>
          <p:cNvCxnSpPr/>
          <p:nvPr/>
        </p:nvCxnSpPr>
        <p:spPr>
          <a:xfrm>
            <a:off x="850" y="4674750"/>
            <a:ext cx="9129900" cy="75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3" name="Google Shape;173;p15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95250" rIns="95250" bIns="95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rPr>
              <a:t>¿Por qué un framework front-end?</a:t>
            </a:r>
            <a:endParaRPr sz="1750" b="1">
              <a:solidFill>
                <a:srgbClr val="7D944E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457200" y="85725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Kotaru (2016) menciona los siguientes escenarios:</a:t>
            </a:r>
            <a:endParaRPr sz="18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15"/>
          <p:cNvGrpSpPr/>
          <p:nvPr/>
        </p:nvGrpSpPr>
        <p:grpSpPr>
          <a:xfrm>
            <a:off x="457200" y="1381125"/>
            <a:ext cx="2571900" cy="3048000"/>
            <a:chOff x="457200" y="1381125"/>
            <a:chExt cx="2571900" cy="3048000"/>
          </a:xfrm>
        </p:grpSpPr>
        <p:sp>
          <p:nvSpPr>
            <p:cNvPr id="176" name="Google Shape;176;p15"/>
            <p:cNvSpPr/>
            <p:nvPr/>
          </p:nvSpPr>
          <p:spPr>
            <a:xfrm>
              <a:off x="457200" y="1381125"/>
              <a:ext cx="2571900" cy="3048000"/>
            </a:xfrm>
            <a:prstGeom prst="roundRect">
              <a:avLst>
                <a:gd name="adj" fmla="val 4444"/>
              </a:avLst>
            </a:prstGeom>
            <a:solidFill>
              <a:srgbClr val="F4F7ED"/>
            </a:solidFill>
            <a:ln w="9525" cap="flat" cmpd="sng">
              <a:solidFill>
                <a:srgbClr val="8AA3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5"/>
            <p:cNvSpPr txBox="1"/>
            <p:nvPr/>
          </p:nvSpPr>
          <p:spPr>
            <a:xfrm>
              <a:off x="552450" y="1476375"/>
              <a:ext cx="2381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7D944E"/>
                  </a:solidFill>
                  <a:latin typeface="Arial"/>
                  <a:ea typeface="Arial"/>
                  <a:cs typeface="Arial"/>
                  <a:sym typeface="Arial"/>
                </a:rPr>
                <a:t>Multiple form factors</a:t>
              </a:r>
              <a:endParaRPr sz="1600" b="1">
                <a:solidFill>
                  <a:srgbClr val="7D944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With the advent of mobile technologies, there are a variety of screen sizes. Content needs to fit multiple screen sizes and still be legible.</a:t>
              </a:r>
              <a:endParaRPr sz="1100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15"/>
          <p:cNvGrpSpPr/>
          <p:nvPr/>
        </p:nvGrpSpPr>
        <p:grpSpPr>
          <a:xfrm>
            <a:off x="3286125" y="1381125"/>
            <a:ext cx="2571900" cy="3048000"/>
            <a:chOff x="3286125" y="1381125"/>
            <a:chExt cx="2571900" cy="3048000"/>
          </a:xfrm>
        </p:grpSpPr>
        <p:sp>
          <p:nvSpPr>
            <p:cNvPr id="179" name="Google Shape;179;p15"/>
            <p:cNvSpPr/>
            <p:nvPr/>
          </p:nvSpPr>
          <p:spPr>
            <a:xfrm>
              <a:off x="3286125" y="1381125"/>
              <a:ext cx="2571900" cy="3048000"/>
            </a:xfrm>
            <a:prstGeom prst="roundRect">
              <a:avLst>
                <a:gd name="adj" fmla="val 4444"/>
              </a:avLst>
            </a:prstGeom>
            <a:solidFill>
              <a:srgbClr val="F4F7ED"/>
            </a:solidFill>
            <a:ln w="9525" cap="flat" cmpd="sng">
              <a:solidFill>
                <a:srgbClr val="8AA3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 txBox="1"/>
            <p:nvPr/>
          </p:nvSpPr>
          <p:spPr>
            <a:xfrm>
              <a:off x="3381375" y="1476375"/>
              <a:ext cx="2381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7D944E"/>
                  </a:solidFill>
                  <a:latin typeface="Arial"/>
                  <a:ea typeface="Arial"/>
                  <a:cs typeface="Arial"/>
                  <a:sym typeface="Arial"/>
                </a:rPr>
                <a:t>Rich UI development</a:t>
              </a:r>
              <a:endParaRPr sz="1600" b="1">
                <a:solidFill>
                  <a:srgbClr val="7D944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With new capabilities in HTML, CSS, and JavaScript, it is possible to develop better user interactions, controls, and user experience.</a:t>
              </a:r>
              <a:endParaRPr sz="1100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" name="Google Shape;181;p15"/>
          <p:cNvGrpSpPr/>
          <p:nvPr/>
        </p:nvGrpSpPr>
        <p:grpSpPr>
          <a:xfrm>
            <a:off x="6115050" y="1381125"/>
            <a:ext cx="2571900" cy="3048000"/>
            <a:chOff x="6115050" y="1381125"/>
            <a:chExt cx="2571900" cy="3048000"/>
          </a:xfrm>
        </p:grpSpPr>
        <p:sp>
          <p:nvSpPr>
            <p:cNvPr id="182" name="Google Shape;182;p15"/>
            <p:cNvSpPr/>
            <p:nvPr/>
          </p:nvSpPr>
          <p:spPr>
            <a:xfrm>
              <a:off x="6115050" y="1381125"/>
              <a:ext cx="2571900" cy="3048000"/>
            </a:xfrm>
            <a:prstGeom prst="roundRect">
              <a:avLst>
                <a:gd name="adj" fmla="val 4444"/>
              </a:avLst>
            </a:prstGeom>
            <a:solidFill>
              <a:srgbClr val="F4F7ED"/>
            </a:solidFill>
            <a:ln w="9525" cap="flat" cmpd="sng">
              <a:solidFill>
                <a:srgbClr val="8AA3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5"/>
            <p:cNvSpPr txBox="1"/>
            <p:nvPr/>
          </p:nvSpPr>
          <p:spPr>
            <a:xfrm>
              <a:off x="6210300" y="1476375"/>
              <a:ext cx="2381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7D944E"/>
                  </a:solidFill>
                  <a:latin typeface="Arial"/>
                  <a:ea typeface="Arial"/>
                  <a:cs typeface="Arial"/>
                  <a:sym typeface="Arial"/>
                </a:rPr>
                <a:t>Single Page Application (SPA)</a:t>
              </a:r>
              <a:endParaRPr sz="1600" b="1">
                <a:solidFill>
                  <a:srgbClr val="7D944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Many applications tend to be developed as SPAs. The whole page does not always have to reload.</a:t>
              </a:r>
              <a:endParaRPr sz="1100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92100" algn="l" rtl="0">
                <a:spcBef>
                  <a:spcPts val="60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Dynamic content rendering</a:t>
              </a:r>
              <a:endParaRPr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92100" algn="l" rtl="0"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Improved performance</a:t>
              </a:r>
              <a:endParaRPr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92100" algn="l" rtl="0"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Maintains user context</a:t>
              </a:r>
              <a:endParaRPr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 txBox="1">
            <a:spLocks noGrp="1"/>
          </p:cNvSpPr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Configuración del ambiente de trabajo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Node.js</a:t>
            </a:r>
            <a:endParaRPr sz="2400"/>
          </a:p>
        </p:txBody>
      </p:sp>
      <p:sp>
        <p:nvSpPr>
          <p:cNvPr id="196" name="Google Shape;196;p17"/>
          <p:cNvSpPr txBox="1">
            <a:spLocks noGrp="1"/>
          </p:cNvSpPr>
          <p:nvPr>
            <p:ph type="body" idx="4294967295"/>
          </p:nvPr>
        </p:nvSpPr>
        <p:spPr>
          <a:xfrm>
            <a:off x="202200" y="760200"/>
            <a:ext cx="8396400" cy="3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1800">
                <a:solidFill>
                  <a:schemeClr val="dk1"/>
                </a:solidFill>
              </a:rPr>
              <a:t>Node.js es un entorno de ejecución de JavaScript para aplicaciones del lado del servidor</a:t>
            </a:r>
            <a:endParaRPr sz="1800">
              <a:solidFill>
                <a:schemeClr val="dk1"/>
              </a:solidFill>
            </a:endParaRPr>
          </a:p>
          <a:p>
            <a:pPr marL="457200" lvl="0" indent="-368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1800">
                <a:solidFill>
                  <a:schemeClr val="dk1"/>
                </a:solidFill>
              </a:rPr>
              <a:t>El instalador de Node.js incluye el Administrador de Paquetes de Node (NPM)</a:t>
            </a:r>
            <a:endParaRPr sz="1800">
              <a:solidFill>
                <a:schemeClr val="dk1"/>
              </a:solidFill>
            </a:endParaRPr>
          </a:p>
          <a:p>
            <a:pPr marL="914400" lvl="1" indent="-368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1400">
                <a:solidFill>
                  <a:schemeClr val="dk1"/>
                </a:solidFill>
              </a:rPr>
              <a:t>Éste se utiliza para gestionar los paquetes en un proyecto.</a:t>
            </a: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197" name="Google Shape;1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125" y="2537675"/>
            <a:ext cx="4354475" cy="207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Node.js</a:t>
            </a:r>
            <a:endParaRPr sz="2400"/>
          </a:p>
        </p:txBody>
      </p:sp>
      <p:sp>
        <p:nvSpPr>
          <p:cNvPr id="204" name="Google Shape;204;p18"/>
          <p:cNvSpPr txBox="1">
            <a:spLocks noGrp="1"/>
          </p:cNvSpPr>
          <p:nvPr>
            <p:ph type="body" idx="4294967295"/>
          </p:nvPr>
        </p:nvSpPr>
        <p:spPr>
          <a:xfrm>
            <a:off x="202200" y="729625"/>
            <a:ext cx="5902500" cy="26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200">
                <a:solidFill>
                  <a:schemeClr val="dk1"/>
                </a:solidFill>
              </a:rPr>
              <a:t>Versión por emplear</a:t>
            </a:r>
            <a:endParaRPr sz="2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200">
                <a:solidFill>
                  <a:schemeClr val="dk1"/>
                </a:solidFill>
              </a:rPr>
              <a:t>Instalador en caso de no estar instalado </a:t>
            </a:r>
            <a:r>
              <a:rPr lang="en-US" sz="22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https://nodejs.org/en/</a:t>
            </a:r>
            <a:endParaRPr sz="2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200">
                <a:solidFill>
                  <a:schemeClr val="dk1"/>
                </a:solidFill>
              </a:rPr>
              <a:t>Actualización de NPM</a:t>
            </a:r>
            <a:endParaRPr sz="2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  <p:graphicFrame>
        <p:nvGraphicFramePr>
          <p:cNvPr id="205" name="Google Shape;205;p18"/>
          <p:cNvGraphicFramePr/>
          <p:nvPr/>
        </p:nvGraphicFramePr>
        <p:xfrm>
          <a:off x="876100" y="1444950"/>
          <a:ext cx="4554675" cy="601028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455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C:\</a:t>
                      </a:r>
                      <a:r>
                        <a:rPr lang="en-US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SW_DEV</a:t>
                      </a:r>
                      <a:r>
                        <a:rPr lang="en-US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US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</a:t>
                      </a:r>
                      <a:r>
                        <a:rPr lang="en-US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--</a:t>
                      </a:r>
                      <a:r>
                        <a:rPr lang="en-US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version</a:t>
                      </a:r>
                      <a:br>
                        <a:rPr lang="en-US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v22</a:t>
                      </a:r>
                      <a:r>
                        <a:rPr lang="en-US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.14.0</a:t>
                      </a:r>
                      <a:endParaRPr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6" name="Google Shape;2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7100" y="938625"/>
            <a:ext cx="2734500" cy="21371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7" name="Google Shape;207;p18"/>
          <p:cNvGraphicFramePr/>
          <p:nvPr/>
        </p:nvGraphicFramePr>
        <p:xfrm>
          <a:off x="907850" y="3811750"/>
          <a:ext cx="4554675" cy="303403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455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npm install npm@latest -g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Angular-cli</a:t>
            </a:r>
            <a:endParaRPr sz="2400"/>
          </a:p>
        </p:txBody>
      </p:sp>
      <p:sp>
        <p:nvSpPr>
          <p:cNvPr id="214" name="Google Shape;214;p19"/>
          <p:cNvSpPr txBox="1">
            <a:spLocks noGrp="1"/>
          </p:cNvSpPr>
          <p:nvPr>
            <p:ph type="body" idx="4294967295"/>
          </p:nvPr>
        </p:nvSpPr>
        <p:spPr>
          <a:xfrm>
            <a:off x="457200" y="1063226"/>
            <a:ext cx="8229600" cy="19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83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000">
                <a:solidFill>
                  <a:schemeClr val="dk1"/>
                </a:solidFill>
              </a:rPr>
              <a:t>El equipo de Angular proporciona un conjunto completo de herramientas de línea de comandos que simplifican el desarrollo de Angular.</a:t>
            </a:r>
            <a:endParaRPr sz="2000">
              <a:solidFill>
                <a:schemeClr val="dk1"/>
              </a:solidFill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>
                <a:solidFill>
                  <a:schemeClr val="dk1"/>
                </a:solidFill>
              </a:rPr>
              <a:t>Estas herramientas se distribuyen mediante el paquete  </a:t>
            </a:r>
            <a:r>
              <a:rPr lang="en-US" sz="2000">
                <a:solidFill>
                  <a:srgbClr val="7D944E"/>
                </a:solidFill>
              </a:rPr>
              <a:t>@angular/cli</a:t>
            </a:r>
            <a:endParaRPr sz="2000" b="1">
              <a:solidFill>
                <a:srgbClr val="7D944E"/>
              </a:solidFill>
            </a:endParaRPr>
          </a:p>
        </p:txBody>
      </p:sp>
      <p:pic>
        <p:nvPicPr>
          <p:cNvPr id="215" name="Google Shape;2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6550" y="2642351"/>
            <a:ext cx="3411322" cy="184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Angular-cli</a:t>
            </a:r>
            <a:endParaRPr sz="2400"/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4294967295"/>
          </p:nvPr>
        </p:nvSpPr>
        <p:spPr>
          <a:xfrm>
            <a:off x="202200" y="786226"/>
            <a:ext cx="8229600" cy="5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83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000">
                <a:solidFill>
                  <a:schemeClr val="dk1"/>
                </a:solidFill>
              </a:rPr>
              <a:t>En caso de no estar instalado</a:t>
            </a:r>
            <a:endParaRPr sz="2000" b="1">
              <a:solidFill>
                <a:srgbClr val="7D944E"/>
              </a:solidFill>
            </a:endParaRPr>
          </a:p>
        </p:txBody>
      </p:sp>
      <p:graphicFrame>
        <p:nvGraphicFramePr>
          <p:cNvPr id="223" name="Google Shape;223;p20"/>
          <p:cNvGraphicFramePr/>
          <p:nvPr/>
        </p:nvGraphicFramePr>
        <p:xfrm>
          <a:off x="4371525" y="1054913"/>
          <a:ext cx="3931250" cy="306642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393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C:\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SW_DEV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npm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install 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@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angular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cli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4" name="Google Shape;224;p20"/>
          <p:cNvGraphicFramePr/>
          <p:nvPr/>
        </p:nvGraphicFramePr>
        <p:xfrm>
          <a:off x="577575" y="1565675"/>
          <a:ext cx="5217125" cy="1270572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521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new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my-app             # Create a new Angular project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serve                  # 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Start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development server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build                  # Build the project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test                   # Run unit tests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lint                   # Lint the project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e2e                    # Run end-to-end tests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5" name="Google Shape;225;p20"/>
          <p:cNvGraphicFramePr/>
          <p:nvPr/>
        </p:nvGraphicFramePr>
        <p:xfrm>
          <a:off x="2775675" y="3106900"/>
          <a:ext cx="5100200" cy="1270572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51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generate component my-component  # Generate new component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g directive my-directive         # Shortcut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directive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g service my-service             # Generate a service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g module my-module               # Generate a module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g pipe my-pipe                   # Generate a pipe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g guard my-guard                 # Generate a route guard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>
            <a:spLocks noGrp="1"/>
          </p:cNvSpPr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proyecto Angular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y configuración del proyecto</a:t>
            </a:r>
            <a:endParaRPr/>
          </a:p>
        </p:txBody>
      </p:sp>
      <p:sp>
        <p:nvSpPr>
          <p:cNvPr id="238" name="Google Shape;238;p22"/>
          <p:cNvSpPr txBox="1">
            <a:spLocks noGrp="1"/>
          </p:cNvSpPr>
          <p:nvPr>
            <p:ph type="body" idx="1"/>
          </p:nvPr>
        </p:nvSpPr>
        <p:spPr>
          <a:xfrm>
            <a:off x="76200" y="682228"/>
            <a:ext cx="8229600" cy="3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56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En la consola de comandos seleccione su directorio de trabajo</a:t>
            </a:r>
            <a:endParaRPr sz="2000"/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56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Digite el siguiente comando</a:t>
            </a:r>
            <a:endParaRPr sz="800"/>
          </a:p>
        </p:txBody>
      </p:sp>
      <p:sp>
        <p:nvSpPr>
          <p:cNvPr id="239" name="Google Shape;239;p22"/>
          <p:cNvSpPr txBox="1"/>
          <p:nvPr/>
        </p:nvSpPr>
        <p:spPr>
          <a:xfrm>
            <a:off x="457200" y="3328150"/>
            <a:ext cx="34488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9900"/>
                </a:solidFill>
              </a:rPr>
              <a:t>ng</a:t>
            </a:r>
            <a:r>
              <a:rPr lang="en-US" sz="1200">
                <a:solidFill>
                  <a:schemeClr val="dk1"/>
                </a:solidFill>
              </a:rPr>
              <a:t>: comando del paquete angular-cli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9900"/>
                </a:solidFill>
              </a:rPr>
              <a:t>ng new</a:t>
            </a:r>
            <a:r>
              <a:rPr lang="en-US" sz="1200">
                <a:solidFill>
                  <a:schemeClr val="dk1"/>
                </a:solidFill>
              </a:rPr>
              <a:t>: inicia un nuevo proyecto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9900"/>
                </a:solidFill>
              </a:rPr>
              <a:t>videorent-frontend</a:t>
            </a:r>
            <a:r>
              <a:rPr lang="en-US" sz="1200">
                <a:solidFill>
                  <a:schemeClr val="dk1"/>
                </a:solidFill>
              </a:rPr>
              <a:t>: folder que contiene → archivos para el desarrollo, paquetes NPM para desarrollar, correr y desplesgar las aplicaciones Angular</a:t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240" name="Google Shape;240;p22"/>
          <p:cNvGraphicFramePr/>
          <p:nvPr/>
        </p:nvGraphicFramePr>
        <p:xfrm>
          <a:off x="4409200" y="1141300"/>
          <a:ext cx="4556825" cy="306642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455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C:\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SW_DEV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Lenguajes2025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Angular&gt;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1" name="Google Shape;241;p22"/>
          <p:cNvGraphicFramePr/>
          <p:nvPr/>
        </p:nvGraphicFramePr>
        <p:xfrm>
          <a:off x="3314838" y="1917875"/>
          <a:ext cx="5509325" cy="306642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55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C:\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SW_DEV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Lenguajes2025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Angular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videorent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frontend --</a:t>
                      </a:r>
                      <a:r>
                        <a:rPr lang="en-US" sz="1100" b="1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standalone</a:t>
                      </a:r>
                      <a:endParaRPr sz="1100">
                        <a:solidFill>
                          <a:srgbClr val="FF9900"/>
                        </a:solidFill>
                      </a:endParaRPr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2" name="Google Shape;242;p22"/>
          <p:cNvGraphicFramePr/>
          <p:nvPr/>
        </p:nvGraphicFramePr>
        <p:xfrm>
          <a:off x="4409200" y="2368850"/>
          <a:ext cx="6781525" cy="1656144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678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√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Which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stylesheet</a:t>
                      </a:r>
                      <a:r>
                        <a:rPr lang="en-US" sz="110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format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would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you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like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use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 </a:t>
                      </a:r>
                      <a:r>
                        <a:rPr lang="en-US" sz="1100" b="1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CSS</a:t>
                      </a:r>
                      <a:r>
                        <a:rPr lang="en-US" sz="110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[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://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developer.mozilla.org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Web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CSS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  ]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√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you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want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enable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Server</a:t>
                      </a:r>
                      <a:r>
                        <a:rPr lang="en-US" sz="110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en-US" sz="1100" b="1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Side</a:t>
                      </a:r>
                      <a:r>
                        <a:rPr lang="en-US" sz="110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Rendering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SSR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Static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Site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Generation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SSG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Prerendering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)? </a:t>
                      </a:r>
                      <a:r>
                        <a:rPr lang="en-US" sz="1100" b="1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videorent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frontend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angular.json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(2894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bytes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videorent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frontend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package.json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(1299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bytes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videorent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frontend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README.md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(1539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bytes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Installing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packages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npm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)...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Abrir el proyecto para codificación</a:t>
            </a:r>
            <a:endParaRPr/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76200" y="682225"/>
            <a:ext cx="4723200" cy="3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>
                <a:solidFill>
                  <a:schemeClr val="dk1"/>
                </a:solidFill>
              </a:rPr>
              <a:t>Abrir el Visual Studio Code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>
                <a:solidFill>
                  <a:schemeClr val="dk1"/>
                </a:solidFill>
              </a:rPr>
              <a:t>Seleccionar el directorio raíz del proyecto: File/Open Folder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pic>
        <p:nvPicPr>
          <p:cNvPr id="250" name="Google Shape;2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5175" y="202225"/>
            <a:ext cx="1867271" cy="41564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23"/>
          <p:cNvGrpSpPr/>
          <p:nvPr/>
        </p:nvGrpSpPr>
        <p:grpSpPr>
          <a:xfrm>
            <a:off x="2756649" y="1589613"/>
            <a:ext cx="4276397" cy="1381700"/>
            <a:chOff x="1822765" y="1087200"/>
            <a:chExt cx="3209785" cy="1381700"/>
          </a:xfrm>
        </p:grpSpPr>
        <p:cxnSp>
          <p:nvCxnSpPr>
            <p:cNvPr id="252" name="Google Shape;252;p23"/>
            <p:cNvCxnSpPr/>
            <p:nvPr/>
          </p:nvCxnSpPr>
          <p:spPr>
            <a:xfrm>
              <a:off x="5022475" y="1087200"/>
              <a:ext cx="3300" cy="538800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23"/>
            <p:cNvCxnSpPr/>
            <p:nvPr/>
          </p:nvCxnSpPr>
          <p:spPr>
            <a:xfrm flipH="1">
              <a:off x="3479450" y="1450275"/>
              <a:ext cx="1553100" cy="151200"/>
            </a:xfrm>
            <a:prstGeom prst="straightConnector1">
              <a:avLst/>
            </a:prstGeom>
            <a:noFill/>
            <a:ln w="9525" cap="flat" cmpd="sng">
              <a:solidFill>
                <a:srgbClr val="F7416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4" name="Google Shape;254;p23"/>
            <p:cNvSpPr txBox="1"/>
            <p:nvPr/>
          </p:nvSpPr>
          <p:spPr>
            <a:xfrm>
              <a:off x="1822765" y="1359500"/>
              <a:ext cx="1656600" cy="110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Componente creado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CSS y HTML: </a:t>
              </a:r>
              <a:r>
                <a:rPr lang="en-US" b="1">
                  <a:solidFill>
                    <a:srgbClr val="9C6CF7"/>
                  </a:solidFill>
                </a:rPr>
                <a:t>view</a:t>
              </a:r>
              <a:endParaRPr b="1">
                <a:solidFill>
                  <a:srgbClr val="9C6CF7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ts [Typescript]: </a:t>
              </a:r>
              <a:r>
                <a:rPr lang="en-US" b="1">
                  <a:solidFill>
                    <a:srgbClr val="9C6CF7"/>
                  </a:solidFill>
                </a:rPr>
                <a:t>controller</a:t>
              </a:r>
              <a:endParaRPr b="1">
                <a:solidFill>
                  <a:srgbClr val="9C6CF7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" name="Google Shape;255;p23"/>
          <p:cNvSpPr txBox="1"/>
          <p:nvPr/>
        </p:nvSpPr>
        <p:spPr>
          <a:xfrm>
            <a:off x="1852300" y="3045600"/>
            <a:ext cx="2218500" cy="13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9C6CF7"/>
                </a:solidFill>
              </a:rPr>
              <a:t>package.json</a:t>
            </a:r>
            <a:endParaRPr b="1">
              <a:solidFill>
                <a:srgbClr val="9C6CF7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Lista de dependencias asociadas al proyecto y sus versiones</a:t>
            </a:r>
            <a:endParaRPr/>
          </a:p>
        </p:txBody>
      </p:sp>
      <p:cxnSp>
        <p:nvCxnSpPr>
          <p:cNvPr id="256" name="Google Shape;256;p23"/>
          <p:cNvCxnSpPr/>
          <p:nvPr/>
        </p:nvCxnSpPr>
        <p:spPr>
          <a:xfrm flipH="1">
            <a:off x="4487475" y="3557550"/>
            <a:ext cx="2466300" cy="114300"/>
          </a:xfrm>
          <a:prstGeom prst="straightConnector1">
            <a:avLst/>
          </a:prstGeom>
          <a:noFill/>
          <a:ln w="9525" cap="flat" cmpd="sng">
            <a:solidFill>
              <a:srgbClr val="F7416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Iniciar las herramientas de desarrollo de Angular</a:t>
            </a:r>
            <a:endParaRPr/>
          </a:p>
        </p:txBody>
      </p:sp>
      <p:sp>
        <p:nvSpPr>
          <p:cNvPr id="263" name="Google Shape;263;p24"/>
          <p:cNvSpPr txBox="1">
            <a:spLocks noGrp="1"/>
          </p:cNvSpPr>
          <p:nvPr>
            <p:ph type="body" idx="1"/>
          </p:nvPr>
        </p:nvSpPr>
        <p:spPr>
          <a:xfrm>
            <a:off x="76200" y="682227"/>
            <a:ext cx="8229600" cy="8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56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Ubíquese en el directorio del proyecto</a:t>
            </a:r>
            <a:endParaRPr sz="800"/>
          </a:p>
        </p:txBody>
      </p:sp>
      <p:graphicFrame>
        <p:nvGraphicFramePr>
          <p:cNvPr id="264" name="Google Shape;264;p24"/>
          <p:cNvGraphicFramePr/>
          <p:nvPr/>
        </p:nvGraphicFramePr>
        <p:xfrm>
          <a:off x="160700" y="1906988"/>
          <a:ext cx="5033075" cy="306642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503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C:\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SW_DEV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Lenguajes2025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</a:t>
                      </a:r>
                      <a:r>
                        <a:rPr lang="en-US" sz="1100" b="1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Angular\videorent-frontend&gt;</a:t>
                      </a:r>
                      <a:r>
                        <a:rPr lang="en-US" sz="110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serve</a:t>
                      </a:r>
                      <a:endParaRPr sz="1100">
                        <a:solidFill>
                          <a:srgbClr val="FF9900"/>
                        </a:solidFill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65" name="Google Shape;2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875" y="2422375"/>
            <a:ext cx="3379175" cy="2095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6" name="Google Shape;266;p24"/>
          <p:cNvGraphicFramePr/>
          <p:nvPr/>
        </p:nvGraphicFramePr>
        <p:xfrm>
          <a:off x="160688" y="2358800"/>
          <a:ext cx="5033075" cy="2234502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503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Initial chunk files | Names         |  Raw size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polyfills.js        | polyfills     | 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90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kB |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main.js             | main          | 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kB |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styles.css          | styles        | 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95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bytes |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 | Initial total |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41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kB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Application bundle generation complete. [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925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seconds]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Watch 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mode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enabled. Watching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file changes...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➜  Local:   http://localhost: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4200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>
            <a:spLocks noGrp="1"/>
          </p:cNvSpPr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Implementación de una funcionalidad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Implementación de la funcionalidad</a:t>
            </a:r>
            <a:endParaRPr/>
          </a:p>
        </p:txBody>
      </p:sp>
      <p:pic>
        <p:nvPicPr>
          <p:cNvPr id="279" name="Google Shape;27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925" y="1109100"/>
            <a:ext cx="6324600" cy="29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>
            <a:spLocks noGrp="1"/>
          </p:cNvSpPr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Modelo de dominio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del modelo de dominio</a:t>
            </a:r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body" idx="1"/>
          </p:nvPr>
        </p:nvSpPr>
        <p:spPr>
          <a:xfrm>
            <a:off x="76200" y="682228"/>
            <a:ext cx="8229600" cy="3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C</a:t>
            </a:r>
            <a:r>
              <a:rPr lang="en-US" sz="2400">
                <a:solidFill>
                  <a:schemeClr val="lt2"/>
                </a:solidFill>
              </a:rPr>
              <a:t>onstituido por </a:t>
            </a:r>
            <a:r>
              <a:rPr lang="en-US">
                <a:solidFill>
                  <a:schemeClr val="lt2"/>
                </a:solidFill>
              </a:rPr>
              <a:t>entidades de negocio asociadas</a:t>
            </a:r>
            <a:r>
              <a:rPr lang="en-US" sz="2400">
                <a:solidFill>
                  <a:schemeClr val="lt2"/>
                </a:solidFill>
              </a:rPr>
              <a:t> al dominio del problema</a:t>
            </a:r>
            <a:endParaRPr sz="2200">
              <a:solidFill>
                <a:schemeClr val="lt2"/>
              </a:solidFill>
            </a:endParaRPr>
          </a:p>
          <a:p>
            <a:pPr marL="457200" lvl="0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</a:pPr>
            <a:r>
              <a:rPr lang="en-US" sz="2400">
                <a:solidFill>
                  <a:schemeClr val="dk1"/>
                </a:solidFill>
              </a:rPr>
              <a:t>Las apps Angular pueden escribirse en Typescript</a:t>
            </a:r>
            <a:endParaRPr sz="2400">
              <a:solidFill>
                <a:schemeClr val="dk1"/>
              </a:solidFill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El lenguaje permite escribir código utilizando la última especificación de Javascript - ECMAScript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Nótese en paquete TypeScript compiler agregado al proyecto</a:t>
            </a:r>
            <a:endParaRPr sz="22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del modelo de dominio</a:t>
            </a:r>
            <a:endParaRPr/>
          </a:p>
        </p:txBody>
      </p:sp>
      <p:graphicFrame>
        <p:nvGraphicFramePr>
          <p:cNvPr id="299" name="Google Shape;299;p29"/>
          <p:cNvGraphicFramePr/>
          <p:nvPr/>
        </p:nvGraphicFramePr>
        <p:xfrm>
          <a:off x="233450" y="1003575"/>
          <a:ext cx="3465475" cy="1656144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346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Genero {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id?: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number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nombre?: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constructor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100">
                          <a:solidFill>
                            <a:srgbClr val="0000FF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id: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number</a:t>
                      </a:r>
                      <a:r>
                        <a:rPr lang="en-US" sz="1100">
                          <a:solidFill>
                            <a:srgbClr val="0000FF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nombre: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){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.id = id;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.nombre = nombre;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0" name="Google Shape;300;p29"/>
          <p:cNvGraphicFramePr/>
          <p:nvPr/>
        </p:nvGraphicFramePr>
        <p:xfrm>
          <a:off x="4043425" y="1003575"/>
          <a:ext cx="3769450" cy="2427288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376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Actor{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id?: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number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nombre?: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apellidos?: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constructor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 sz="1100">
                          <a:solidFill>
                            <a:srgbClr val="0000FF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id: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number</a:t>
                      </a:r>
                      <a:r>
                        <a:rPr lang="en-US" sz="1100">
                          <a:solidFill>
                            <a:srgbClr val="0000FF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,nombre: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lang="en-US" sz="1100">
                          <a:solidFill>
                            <a:srgbClr val="0000FF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apellidos: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){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.id = id;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.nombre = nombre;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.apellidos = apellidos;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>
            <a:spLocks noGrp="1"/>
          </p:cNvSpPr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Servicios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una constante</a:t>
            </a:r>
            <a:endParaRPr/>
          </a:p>
        </p:txBody>
      </p:sp>
      <p:sp>
        <p:nvSpPr>
          <p:cNvPr id="313" name="Google Shape;313;p31"/>
          <p:cNvSpPr txBox="1">
            <a:spLocks noGrp="1"/>
          </p:cNvSpPr>
          <p:nvPr>
            <p:ph type="body" idx="1"/>
          </p:nvPr>
        </p:nvSpPr>
        <p:spPr>
          <a:xfrm>
            <a:off x="110325" y="786225"/>
            <a:ext cx="8739600" cy="16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560"/>
              </a:spcBef>
              <a:spcAft>
                <a:spcPts val="0"/>
              </a:spcAft>
              <a:buClr>
                <a:srgbClr val="5E5E5E"/>
              </a:buClr>
              <a:buSzPts val="2400"/>
              <a:buChar char="▪"/>
            </a:pPr>
            <a:r>
              <a:rPr lang="en-US">
                <a:solidFill>
                  <a:srgbClr val="5E5E5E"/>
                </a:solidFill>
              </a:rPr>
              <a:t>En la carpeta </a:t>
            </a:r>
            <a:r>
              <a:rPr lang="en-US">
                <a:solidFill>
                  <a:srgbClr val="FF9900"/>
                </a:solidFill>
              </a:rPr>
              <a:t>scr</a:t>
            </a:r>
            <a:r>
              <a:rPr lang="en-US">
                <a:solidFill>
                  <a:srgbClr val="5E5E5E"/>
                </a:solidFill>
              </a:rPr>
              <a:t>, adicione una carpeta llamada </a:t>
            </a:r>
            <a:r>
              <a:rPr lang="en-US">
                <a:solidFill>
                  <a:srgbClr val="FF9900"/>
                </a:solidFill>
              </a:rPr>
              <a:t>environments</a:t>
            </a:r>
            <a:endParaRPr>
              <a:solidFill>
                <a:srgbClr val="FF9900"/>
              </a:solidFill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Char char="▪"/>
            </a:pPr>
            <a:r>
              <a:rPr lang="en-US">
                <a:solidFill>
                  <a:srgbClr val="5E5E5E"/>
                </a:solidFill>
              </a:rPr>
              <a:t>Cree un archivo </a:t>
            </a:r>
            <a:r>
              <a:rPr lang="en-US">
                <a:solidFill>
                  <a:srgbClr val="FF9900"/>
                </a:solidFill>
              </a:rPr>
              <a:t>environment.ts</a:t>
            </a:r>
            <a:endParaRPr>
              <a:solidFill>
                <a:srgbClr val="FF9900"/>
              </a:solidFill>
            </a:endParaRPr>
          </a:p>
        </p:txBody>
      </p:sp>
      <p:graphicFrame>
        <p:nvGraphicFramePr>
          <p:cNvPr id="314" name="Google Shape;314;p31"/>
          <p:cNvGraphicFramePr/>
          <p:nvPr/>
        </p:nvGraphicFramePr>
        <p:xfrm>
          <a:off x="294275" y="2405025"/>
          <a:ext cx="7234950" cy="1079119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723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</a:t>
                      </a:r>
                      <a:r>
                        <a:rPr lang="en-US" sz="18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8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en-US" sz="18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environment = {</a:t>
                      </a:r>
                      <a:br>
                        <a:rPr lang="en-US" sz="18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8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API_URL: </a:t>
                      </a:r>
                      <a:r>
                        <a:rPr lang="en-US" sz="185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"http://localhost:8084/renting/"</a:t>
                      </a:r>
                      <a:br>
                        <a:rPr lang="en-US" sz="18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8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};</a:t>
                      </a:r>
                      <a:endParaRPr sz="1850">
                        <a:solidFill>
                          <a:srgbClr val="CCCCCC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la clase Service Genero</a:t>
            </a:r>
            <a:endParaRPr/>
          </a:p>
        </p:txBody>
      </p:sp>
      <p:graphicFrame>
        <p:nvGraphicFramePr>
          <p:cNvPr id="321" name="Google Shape;321;p32"/>
          <p:cNvGraphicFramePr/>
          <p:nvPr/>
        </p:nvGraphicFramePr>
        <p:xfrm>
          <a:off x="286550" y="1104900"/>
          <a:ext cx="7792225" cy="355664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779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generate service </a:t>
                      </a:r>
                      <a:r>
                        <a:rPr lang="en-US" b="1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genero.service </a:t>
                      </a:r>
                      <a:r>
                        <a:rPr lang="en-US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--path src/app/services</a:t>
                      </a:r>
                      <a:endParaRPr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2" name="Google Shape;322;p32"/>
          <p:cNvGraphicFramePr/>
          <p:nvPr/>
        </p:nvGraphicFramePr>
        <p:xfrm>
          <a:off x="3112100" y="1535375"/>
          <a:ext cx="5875600" cy="2948051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587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inject, Injectable } </a:t>
                      </a: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'@angular/core'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Genero } </a:t>
                      </a: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'../domain/genero.model'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environment } </a:t>
                      </a: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'../../environments/environment'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HttpClient } </a:t>
                      </a: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'@angular/common/http'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Observable } </a:t>
                      </a: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'rxjs'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AE7313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@Injectable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({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providedIn: </a:t>
                      </a:r>
                      <a:r>
                        <a:rPr lang="en-US" sz="8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'root'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GeneroService {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http = inject(HttpClient); </a:t>
                      </a:r>
                      <a:r>
                        <a:rPr lang="en-US" sz="850">
                          <a:solidFill>
                            <a:srgbClr val="6C6B5A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inyección de HttpClient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url:</a:t>
                      </a:r>
                      <a:r>
                        <a:rPr lang="en-US" sz="850">
                          <a:solidFill>
                            <a:srgbClr val="AE7313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environment.API_URL;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850">
                          <a:solidFill>
                            <a:srgbClr val="6C6B5A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HttpClient.get devuelve un Observable, lo que permite suscribirse a los cambios de datos en tiempo real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generos = </a:t>
                      </a: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.http.get&lt;Genero[]&gt;(</a:t>
                      </a:r>
                      <a:r>
                        <a:rPr lang="en-US" sz="8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`${this.url}generos`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8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constructor</a:t>
                      </a: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  }</a:t>
                      </a:r>
                      <a:b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solidFill>
                      <a:srgbClr val="F4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3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Proveer acceso a HttpClient a la aplicación</a:t>
            </a:r>
            <a:endParaRPr/>
          </a:p>
        </p:txBody>
      </p:sp>
      <p:graphicFrame>
        <p:nvGraphicFramePr>
          <p:cNvPr id="329" name="Google Shape;329;p33"/>
          <p:cNvGraphicFramePr/>
          <p:nvPr/>
        </p:nvGraphicFramePr>
        <p:xfrm>
          <a:off x="243975" y="1014125"/>
          <a:ext cx="8721675" cy="2478024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872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ApplicationConfig, provideZoneChangeDetection } </a:t>
                      </a:r>
                      <a:r>
                        <a:rPr lang="en-US" sz="13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5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'@angular/core'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provideRouter } </a:t>
                      </a:r>
                      <a:r>
                        <a:rPr lang="en-US" sz="13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5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'@angular/router'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en-US" sz="135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provideHttpClient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135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withFetch 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en-US" sz="13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5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'@angular/common/http'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routes } </a:t>
                      </a:r>
                      <a:r>
                        <a:rPr lang="en-US" sz="13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5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'./app.routes'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appConfig: ApplicationConfig = {</a:t>
                      </a:r>
                      <a:b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providers: [provideZoneChangeDetection({ eventCoalescing: </a:t>
                      </a:r>
                      <a:r>
                        <a:rPr lang="en-US" sz="13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}), provideRouter(routes),</a:t>
                      </a:r>
                      <a:b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35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provideHttpClient(withFetch())</a:t>
                      </a: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};</a:t>
                      </a:r>
                      <a:endParaRPr sz="1350">
                        <a:solidFill>
                          <a:srgbClr val="CCCCCC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0" name="Google Shape;330;p33"/>
          <p:cNvSpPr txBox="1"/>
          <p:nvPr/>
        </p:nvSpPr>
        <p:spPr>
          <a:xfrm>
            <a:off x="243975" y="3965375"/>
            <a:ext cx="637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Archivo </a:t>
            </a:r>
            <a:r>
              <a:rPr lang="en-US" sz="2400">
                <a:solidFill>
                  <a:srgbClr val="FF9900"/>
                </a:solidFill>
              </a:rPr>
              <a:t>app.config.ts</a:t>
            </a:r>
            <a:endParaRPr sz="24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>
            <a:spLocks noGrp="1"/>
          </p:cNvSpPr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componente Angular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Crear el componente para insertar películas</a:t>
            </a:r>
            <a:endParaRPr/>
          </a:p>
        </p:txBody>
      </p:sp>
      <p:graphicFrame>
        <p:nvGraphicFramePr>
          <p:cNvPr id="343" name="Google Shape;343;p35"/>
          <p:cNvGraphicFramePr/>
          <p:nvPr/>
        </p:nvGraphicFramePr>
        <p:xfrm>
          <a:off x="455575" y="928750"/>
          <a:ext cx="8756525" cy="847471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875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generate component </a:t>
                      </a:r>
                      <a:r>
                        <a:rPr lang="en-US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pelicula-insert.component</a:t>
                      </a:r>
                      <a:r>
                        <a:rPr lang="en-US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--</a:t>
                      </a:r>
                      <a:r>
                        <a:rPr lang="en-US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path</a:t>
                      </a:r>
                      <a:r>
                        <a:rPr lang="en-US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src/app/peliculas -</a:t>
                      </a:r>
                      <a:r>
                        <a:rPr lang="en-US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-standalone</a:t>
                      </a:r>
                      <a:endParaRPr>
                        <a:solidFill>
                          <a:srgbClr val="FF9900"/>
                        </a:solidFill>
                        <a:highlight>
                          <a:srgbClr val="F8F8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generate component </a:t>
                      </a:r>
                      <a:r>
                        <a:rPr lang="en-US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pelicula-delete.component</a:t>
                      </a:r>
                      <a:r>
                        <a:rPr lang="en-US">
                          <a:solidFill>
                            <a:schemeClr val="dk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--</a:t>
                      </a:r>
                      <a:r>
                        <a:rPr lang="en-US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path</a:t>
                      </a:r>
                      <a:r>
                        <a:rPr lang="en-US">
                          <a:solidFill>
                            <a:schemeClr val="dk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src/app/peliculas -</a:t>
                      </a:r>
                      <a:r>
                        <a:rPr lang="en-US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-standalone</a:t>
                      </a:r>
                      <a:endParaRPr>
                        <a:solidFill>
                          <a:srgbClr val="FF9900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9900"/>
                        </a:solidFill>
                        <a:highlight>
                          <a:srgbClr val="F8F8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44" name="Google Shape;3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098" y="1698400"/>
            <a:ext cx="3108003" cy="286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¿Cómo luce un componente?</a:t>
            </a:r>
            <a:endParaRPr/>
          </a:p>
        </p:txBody>
      </p:sp>
      <p:sp>
        <p:nvSpPr>
          <p:cNvPr id="351" name="Google Shape;351;p36"/>
          <p:cNvSpPr txBox="1">
            <a:spLocks noGrp="1"/>
          </p:cNvSpPr>
          <p:nvPr>
            <p:ph type="body" idx="4294967295"/>
          </p:nvPr>
        </p:nvSpPr>
        <p:spPr>
          <a:xfrm>
            <a:off x="144675" y="924050"/>
            <a:ext cx="40368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D944E"/>
                </a:solidFill>
              </a:rPr>
              <a:t>Cada componente debe tener:</a:t>
            </a:r>
            <a:endParaRPr sz="1900">
              <a:solidFill>
                <a:srgbClr val="7D944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E5E5E"/>
                </a:solidFill>
              </a:rPr>
              <a:t>Una </a:t>
            </a:r>
            <a:r>
              <a:rPr lang="en-US" sz="1700">
                <a:solidFill>
                  <a:srgbClr val="FF9900"/>
                </a:solidFill>
              </a:rPr>
              <a:t>clase TypeScript</a:t>
            </a:r>
            <a:r>
              <a:rPr lang="en-US" sz="1700">
                <a:solidFill>
                  <a:srgbClr val="5E5E5E"/>
                </a:solidFill>
              </a:rPr>
              <a:t> que contiene  la lógica del componente. </a:t>
            </a:r>
            <a:endParaRPr sz="1700">
              <a:solidFill>
                <a:srgbClr val="5E5E5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rgbClr val="5E5E5E"/>
                </a:solidFill>
              </a:rPr>
              <a:t>Incluye propiedades, métodos y métodos del ciclo de vida: ngOnInit(), ngOnChanges(), ngOnDestroy(), entre otros.</a:t>
            </a:r>
            <a:endParaRPr sz="1700">
              <a:solidFill>
                <a:srgbClr val="5E5E5E"/>
              </a:solidFill>
            </a:endParaRPr>
          </a:p>
        </p:txBody>
      </p:sp>
      <p:graphicFrame>
        <p:nvGraphicFramePr>
          <p:cNvPr id="352" name="Google Shape;352;p36"/>
          <p:cNvGraphicFramePr/>
          <p:nvPr/>
        </p:nvGraphicFramePr>
        <p:xfrm>
          <a:off x="4181475" y="924050"/>
          <a:ext cx="4438225" cy="3776790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443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Component }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'@angular/core'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 b="1">
                          <a:solidFill>
                            <a:srgbClr val="999999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@Component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({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selector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'app-my-component,'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templateUrl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'./my-component.component.html'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styleUrls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[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'./my-component.component.css'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MyComponent {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title: 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'Welcome to Angular!'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count: </a:t>
                      </a:r>
                      <a:r>
                        <a:rPr lang="en-US" sz="1100">
                          <a:solidFill>
                            <a:srgbClr val="0086B3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number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increment() {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.count++;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reset() {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.count =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7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¿Cómo luce una plantilla?</a:t>
            </a:r>
            <a:endParaRPr/>
          </a:p>
        </p:txBody>
      </p:sp>
      <p:sp>
        <p:nvSpPr>
          <p:cNvPr id="359" name="Google Shape;359;p37"/>
          <p:cNvSpPr txBox="1">
            <a:spLocks noGrp="1"/>
          </p:cNvSpPr>
          <p:nvPr>
            <p:ph type="body" idx="4294967295"/>
          </p:nvPr>
        </p:nvSpPr>
        <p:spPr>
          <a:xfrm>
            <a:off x="144675" y="924050"/>
            <a:ext cx="9691200" cy="10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E5E5E"/>
                </a:solidFill>
              </a:rPr>
              <a:t>Una </a:t>
            </a:r>
            <a:r>
              <a:rPr lang="en-US" sz="1700">
                <a:solidFill>
                  <a:srgbClr val="FF9900"/>
                </a:solidFill>
              </a:rPr>
              <a:t>plantilla HTML</a:t>
            </a:r>
            <a:r>
              <a:rPr lang="en-US" sz="1700">
                <a:solidFill>
                  <a:srgbClr val="5E5E5E"/>
                </a:solidFill>
              </a:rPr>
              <a:t> que controla lo que se renderiza en el DOM.</a:t>
            </a:r>
            <a:endParaRPr sz="1700">
              <a:solidFill>
                <a:srgbClr val="5E5E5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E5E5E"/>
                </a:solidFill>
              </a:rPr>
              <a:t>Controla cómo los datos del componente y los elementos de la UI serán desplegados.</a:t>
            </a:r>
            <a:endParaRPr sz="1700">
              <a:solidFill>
                <a:srgbClr val="5E5E5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5E5E5E"/>
              </a:solidFill>
            </a:endParaRPr>
          </a:p>
        </p:txBody>
      </p:sp>
      <p:graphicFrame>
        <p:nvGraphicFramePr>
          <p:cNvPr id="360" name="Google Shape;360;p37"/>
          <p:cNvGraphicFramePr/>
          <p:nvPr/>
        </p:nvGraphicFramePr>
        <p:xfrm>
          <a:off x="395600" y="2503250"/>
          <a:ext cx="8005050" cy="1857700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80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7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&lt;div class=</a:t>
                      </a:r>
                      <a:r>
                        <a:rPr lang="en-US" sz="13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"component-container"</a:t>
                      </a: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&lt;h1&gt;</a:t>
                      </a:r>
                      <a: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{{ title }}</a:t>
                      </a: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&lt;/h1&gt;</a:t>
                      </a:r>
                      <a: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 i="1">
                          <a:solidFill>
                            <a:srgbClr val="408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&lt;!-- Binding title property from the class --&gt;</a:t>
                      </a:r>
                      <a:b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&lt;p&gt;</a:t>
                      </a:r>
                      <a: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Current count: {{ count }}</a:t>
                      </a: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&lt;/p&gt;</a:t>
                      </a:r>
                      <a: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 i="1">
                          <a:solidFill>
                            <a:srgbClr val="408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&lt;!-- Binding count property --&gt;</a:t>
                      </a:r>
                      <a:b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&lt;button (click)=</a:t>
                      </a:r>
                      <a:r>
                        <a:rPr lang="en-US" sz="13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"increment()"</a:t>
                      </a: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Increment</a:t>
                      </a: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&lt;/button&gt;</a:t>
                      </a:r>
                      <a: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 i="1">
                          <a:solidFill>
                            <a:srgbClr val="408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&lt;!-- Event binding for button click --&gt;</a:t>
                      </a:r>
                      <a:b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&lt;button (click)=</a:t>
                      </a:r>
                      <a:r>
                        <a:rPr lang="en-US" sz="13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"reset()"</a:t>
                      </a: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Reset</a:t>
                      </a: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&lt;/button&gt;</a:t>
                      </a:r>
                      <a: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 i="1">
                          <a:solidFill>
                            <a:srgbClr val="408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&lt;!-- Event binding for button click --&gt;</a:t>
                      </a:r>
                      <a:br>
                        <a:rPr lang="en-US" sz="13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&lt;/div&gt;</a:t>
                      </a:r>
                      <a:endParaRPr sz="1300"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1" name="Google Shape;361;p37"/>
          <p:cNvSpPr txBox="1"/>
          <p:nvPr/>
        </p:nvSpPr>
        <p:spPr>
          <a:xfrm>
            <a:off x="2560275" y="4107250"/>
            <a:ext cx="2067000" cy="554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Data binding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362" name="Google Shape;362;p37"/>
          <p:cNvSpPr/>
          <p:nvPr/>
        </p:nvSpPr>
        <p:spPr>
          <a:xfrm>
            <a:off x="3208775" y="1999550"/>
            <a:ext cx="1418400" cy="282300"/>
          </a:xfrm>
          <a:prstGeom prst="wedgeRectCallout">
            <a:avLst>
              <a:gd name="adj1" fmla="val -19996"/>
              <a:gd name="adj2" fmla="val 107944"/>
            </a:avLst>
          </a:prstGeom>
          <a:solidFill>
            <a:srgbClr val="FF9900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Interpolation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3" name="Google Shape;363;p37"/>
          <p:cNvSpPr/>
          <p:nvPr/>
        </p:nvSpPr>
        <p:spPr>
          <a:xfrm>
            <a:off x="5144575" y="2110250"/>
            <a:ext cx="1418400" cy="282300"/>
          </a:xfrm>
          <a:prstGeom prst="wedgeRectCallout">
            <a:avLst>
              <a:gd name="adj1" fmla="val -19996"/>
              <a:gd name="adj2" fmla="val 107944"/>
            </a:avLst>
          </a:prstGeom>
          <a:solidFill>
            <a:srgbClr val="FF9900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Event binding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64" name="Google Shape;364;p37"/>
          <p:cNvCxnSpPr>
            <a:stCxn id="362" idx="4"/>
          </p:cNvCxnSpPr>
          <p:nvPr/>
        </p:nvCxnSpPr>
        <p:spPr>
          <a:xfrm flipH="1">
            <a:off x="1932152" y="2445426"/>
            <a:ext cx="1702200" cy="364800"/>
          </a:xfrm>
          <a:prstGeom prst="straightConnector1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5" name="Google Shape;365;p37"/>
          <p:cNvCxnSpPr/>
          <p:nvPr/>
        </p:nvCxnSpPr>
        <p:spPr>
          <a:xfrm flipH="1">
            <a:off x="1992952" y="2556126"/>
            <a:ext cx="3577200" cy="1206600"/>
          </a:xfrm>
          <a:prstGeom prst="straightConnector1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6" name="Google Shape;366;p37"/>
          <p:cNvSpPr/>
          <p:nvPr/>
        </p:nvSpPr>
        <p:spPr>
          <a:xfrm>
            <a:off x="7080375" y="2110250"/>
            <a:ext cx="1702200" cy="282300"/>
          </a:xfrm>
          <a:prstGeom prst="wedgeRectCallout">
            <a:avLst>
              <a:gd name="adj1" fmla="val -19996"/>
              <a:gd name="adj2" fmla="val 107944"/>
            </a:avLst>
          </a:prstGeom>
          <a:solidFill>
            <a:srgbClr val="FF9900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¿Property binding?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¿Cómo luce el CSS?</a:t>
            </a:r>
            <a:endParaRPr/>
          </a:p>
        </p:txBody>
      </p:sp>
      <p:sp>
        <p:nvSpPr>
          <p:cNvPr id="373" name="Google Shape;373;p38"/>
          <p:cNvSpPr txBox="1">
            <a:spLocks noGrp="1"/>
          </p:cNvSpPr>
          <p:nvPr>
            <p:ph type="body" idx="4294967295"/>
          </p:nvPr>
        </p:nvSpPr>
        <p:spPr>
          <a:xfrm>
            <a:off x="144675" y="924050"/>
            <a:ext cx="32061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900">
                <a:solidFill>
                  <a:srgbClr val="7D944E"/>
                </a:solidFill>
              </a:rPr>
              <a:t>Un </a:t>
            </a:r>
            <a:r>
              <a:rPr lang="en-US" sz="1900">
                <a:solidFill>
                  <a:srgbClr val="FF9900"/>
                </a:solidFill>
              </a:rPr>
              <a:t>archivo CSS</a:t>
            </a:r>
            <a:r>
              <a:rPr lang="en-US" sz="1900">
                <a:solidFill>
                  <a:srgbClr val="7D944E"/>
                </a:solidFill>
              </a:rPr>
              <a:t> que define </a:t>
            </a:r>
            <a:r>
              <a:rPr lang="en-US" sz="1900"/>
              <a:t>que define los estilos que sólo se le aplican al componente (ViewEncapsulation).</a:t>
            </a:r>
            <a:endParaRPr sz="1900">
              <a:solidFill>
                <a:srgbClr val="7D944E"/>
              </a:solidFill>
            </a:endParaRPr>
          </a:p>
        </p:txBody>
      </p:sp>
      <p:graphicFrame>
        <p:nvGraphicFramePr>
          <p:cNvPr id="374" name="Google Shape;374;p38"/>
          <p:cNvGraphicFramePr/>
          <p:nvPr/>
        </p:nvGraphicFramePr>
        <p:xfrm>
          <a:off x="3536825" y="847850"/>
          <a:ext cx="4377450" cy="3776790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437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>
                          <a:solidFill>
                            <a:srgbClr val="408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/* my-component.component.css */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19469D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.component-container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padding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20px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background-color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#f0f0f0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border-radius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5px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button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margin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5px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padding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10px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15px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background-color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#007bff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white;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border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none;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pointer;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button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 sz="11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hover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background-color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 sz="1100">
                          <a:solidFill>
                            <a:srgbClr val="40A07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#0056b3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Eventos del ciclo de vida del componente</a:t>
            </a:r>
            <a:endParaRPr/>
          </a:p>
        </p:txBody>
      </p:sp>
      <p:sp>
        <p:nvSpPr>
          <p:cNvPr id="381" name="Google Shape;381;p39"/>
          <p:cNvSpPr txBox="1">
            <a:spLocks noGrp="1"/>
          </p:cNvSpPr>
          <p:nvPr>
            <p:ph type="body" idx="4294967295"/>
          </p:nvPr>
        </p:nvSpPr>
        <p:spPr>
          <a:xfrm>
            <a:off x="144675" y="924050"/>
            <a:ext cx="32061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900"/>
              <a:t>El ciclo de vida se refiere a una serie de etapas por las cuales pasa el componente</a:t>
            </a:r>
            <a:endParaRPr sz="1900">
              <a:solidFill>
                <a:srgbClr val="7D944E"/>
              </a:solidFill>
            </a:endParaRPr>
          </a:p>
        </p:txBody>
      </p:sp>
      <p:sp>
        <p:nvSpPr>
          <p:cNvPr id="382" name="Google Shape;382;p39"/>
          <p:cNvSpPr txBox="1"/>
          <p:nvPr/>
        </p:nvSpPr>
        <p:spPr>
          <a:xfrm>
            <a:off x="4134250" y="10741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What is a Component in Angular in 2025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>
            <a:spLocks noGrp="1"/>
          </p:cNvSpPr>
          <p:nvPr>
            <p:ph type="title"/>
          </p:nvPr>
        </p:nvSpPr>
        <p:spPr>
          <a:xfrm>
            <a:off x="3330375" y="2235000"/>
            <a:ext cx="51408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Configurar el enrutamiento del componente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Configurar el enrutamiento</a:t>
            </a:r>
            <a:endParaRPr/>
          </a:p>
        </p:txBody>
      </p:sp>
      <p:sp>
        <p:nvSpPr>
          <p:cNvPr id="395" name="Google Shape;395;p41"/>
          <p:cNvSpPr txBox="1">
            <a:spLocks noGrp="1"/>
          </p:cNvSpPr>
          <p:nvPr>
            <p:ph type="body" idx="1"/>
          </p:nvPr>
        </p:nvSpPr>
        <p:spPr>
          <a:xfrm>
            <a:off x="76200" y="682227"/>
            <a:ext cx="8229600" cy="10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58585"/>
                </a:solidFill>
              </a:rPr>
              <a:t>Incorpore el siguiente código para hacer que el componente sea enrutable o navegable</a:t>
            </a:r>
            <a:endParaRPr>
              <a:solidFill>
                <a:srgbClr val="858585"/>
              </a:solidFill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96" name="Google Shape;396;p41"/>
          <p:cNvGraphicFramePr/>
          <p:nvPr/>
        </p:nvGraphicFramePr>
        <p:xfrm>
          <a:off x="211163" y="1776625"/>
          <a:ext cx="8721675" cy="2129663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872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ApplicationConfig, provideZoneChangeDetection } </a:t>
                      </a:r>
                      <a:r>
                        <a:rPr lang="en-US" sz="11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5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'@angular/core'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en-US" sz="115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provideRouter 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en-US" sz="11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5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'@angular/router'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provideHttpClient, withFetch</a:t>
                      </a:r>
                      <a:r>
                        <a:rPr lang="en-US" sz="115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en-US" sz="11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5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'@angular/common/http'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en-US" sz="115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routes 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en-US" sz="11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5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'./app.routes'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appConfig: ApplicationConfig = {</a:t>
                      </a:r>
                      <a:b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providers: [provideZoneChangeDetection({ eventCoalescing: </a:t>
                      </a:r>
                      <a:r>
                        <a:rPr lang="en-US" sz="11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}), </a:t>
                      </a:r>
                      <a:r>
                        <a:rPr lang="en-US" sz="1150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provideRouter(routes)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b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r>
                        <a:rPr lang="en-US" sz="1150">
                          <a:solidFill>
                            <a:schemeClr val="dk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provideHttpClient(withFetch())</a:t>
                      </a: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};</a:t>
                      </a:r>
                      <a:endParaRPr sz="1150">
                        <a:solidFill>
                          <a:srgbClr val="CCCCCC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7" name="Google Shape;397;p41"/>
          <p:cNvSpPr txBox="1"/>
          <p:nvPr/>
        </p:nvSpPr>
        <p:spPr>
          <a:xfrm>
            <a:off x="243975" y="3965375"/>
            <a:ext cx="637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Archivo </a:t>
            </a:r>
            <a:r>
              <a:rPr lang="en-US" sz="2400">
                <a:solidFill>
                  <a:srgbClr val="FF9900"/>
                </a:solidFill>
              </a:rPr>
              <a:t>app.config.ts</a:t>
            </a:r>
            <a:endParaRPr sz="24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Configurar el enrutamiento</a:t>
            </a:r>
            <a:endParaRPr/>
          </a:p>
        </p:txBody>
      </p:sp>
      <p:sp>
        <p:nvSpPr>
          <p:cNvPr id="404" name="Google Shape;404;p42"/>
          <p:cNvSpPr txBox="1">
            <a:spLocks noGrp="1"/>
          </p:cNvSpPr>
          <p:nvPr>
            <p:ph type="body" idx="1"/>
          </p:nvPr>
        </p:nvSpPr>
        <p:spPr>
          <a:xfrm>
            <a:off x="76200" y="682227"/>
            <a:ext cx="8229600" cy="10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58585"/>
                </a:solidFill>
              </a:rPr>
              <a:t>Incorpore el siguiente código para hacer que el componente sea enrutable o navegable</a:t>
            </a:r>
            <a:endParaRPr>
              <a:solidFill>
                <a:srgbClr val="858585"/>
              </a:solidFill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2"/>
          <p:cNvSpPr txBox="1"/>
          <p:nvPr/>
        </p:nvSpPr>
        <p:spPr>
          <a:xfrm>
            <a:off x="243975" y="3965375"/>
            <a:ext cx="637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Archivo </a:t>
            </a:r>
            <a:r>
              <a:rPr lang="en-US" sz="2400">
                <a:solidFill>
                  <a:srgbClr val="FF9900"/>
                </a:solidFill>
              </a:rPr>
              <a:t>app.routes.ts</a:t>
            </a:r>
            <a:endParaRPr sz="2400">
              <a:solidFill>
                <a:srgbClr val="FF9900"/>
              </a:solidFill>
            </a:endParaRPr>
          </a:p>
        </p:txBody>
      </p:sp>
      <p:graphicFrame>
        <p:nvGraphicFramePr>
          <p:cNvPr id="406" name="Google Shape;406;p42"/>
          <p:cNvGraphicFramePr/>
          <p:nvPr/>
        </p:nvGraphicFramePr>
        <p:xfrm>
          <a:off x="243975" y="1874825"/>
          <a:ext cx="8991600" cy="1403477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899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Routes } </a:t>
                      </a:r>
                      <a:r>
                        <a:rPr lang="en-US" sz="10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'@angular/router'</a:t>
                      </a:r>
                      <a: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PeliculaInsertComponent } </a:t>
                      </a:r>
                      <a:r>
                        <a:rPr lang="en-US" sz="10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'./peliculas/pelicula-insert/pelicula-insert.component'</a:t>
                      </a:r>
                      <a: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</a:t>
                      </a:r>
                      <a: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routes: Routes = [</a:t>
                      </a:r>
                      <a:b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 path: </a:t>
                      </a:r>
                      <a:r>
                        <a:rPr lang="en-US" sz="105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'insertar-pelicula'</a:t>
                      </a:r>
                      <a: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component:  PeliculaInsertComponent},</a:t>
                      </a:r>
                      <a:b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1050">
                        <a:solidFill>
                          <a:srgbClr val="CCCCCC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Configurar el enrutamiento</a:t>
            </a:r>
            <a:endParaRPr/>
          </a:p>
        </p:txBody>
      </p:sp>
      <p:sp>
        <p:nvSpPr>
          <p:cNvPr id="413" name="Google Shape;413;p43"/>
          <p:cNvSpPr txBox="1">
            <a:spLocks noGrp="1"/>
          </p:cNvSpPr>
          <p:nvPr>
            <p:ph type="body" idx="1"/>
          </p:nvPr>
        </p:nvSpPr>
        <p:spPr>
          <a:xfrm>
            <a:off x="76200" y="682227"/>
            <a:ext cx="8229600" cy="10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58585"/>
                </a:solidFill>
              </a:rPr>
              <a:t>Corra la aplicación y llame el componente</a:t>
            </a:r>
            <a:endParaRPr>
              <a:solidFill>
                <a:srgbClr val="858585"/>
              </a:solidFill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>
              <a:solidFill>
                <a:srgbClr val="858585"/>
              </a:solidFill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3"/>
          <p:cNvSpPr txBox="1"/>
          <p:nvPr/>
        </p:nvSpPr>
        <p:spPr>
          <a:xfrm>
            <a:off x="243975" y="3965375"/>
            <a:ext cx="637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9900"/>
              </a:solidFill>
            </a:endParaRPr>
          </a:p>
        </p:txBody>
      </p:sp>
      <p:sp>
        <p:nvSpPr>
          <p:cNvPr id="415" name="Google Shape;415;p43"/>
          <p:cNvSpPr txBox="1"/>
          <p:nvPr/>
        </p:nvSpPr>
        <p:spPr>
          <a:xfrm>
            <a:off x="243975" y="1459150"/>
            <a:ext cx="434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http://localhost:4200/insertar-pelicula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4"/>
          <p:cNvSpPr txBox="1">
            <a:spLocks noGrp="1"/>
          </p:cNvSpPr>
          <p:nvPr>
            <p:ph type="title"/>
          </p:nvPr>
        </p:nvSpPr>
        <p:spPr>
          <a:xfrm>
            <a:off x="1805850" y="2235000"/>
            <a:ext cx="70122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del código del componente para cargar los géneros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5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2739900" cy="21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Actualizar código del componente para insertar películas</a:t>
            </a:r>
            <a:endParaRPr/>
          </a:p>
        </p:txBody>
      </p:sp>
      <p:sp>
        <p:nvSpPr>
          <p:cNvPr id="428" name="Google Shape;428;p45"/>
          <p:cNvSpPr txBox="1"/>
          <p:nvPr/>
        </p:nvSpPr>
        <p:spPr>
          <a:xfrm>
            <a:off x="0" y="3030125"/>
            <a:ext cx="844800" cy="309000"/>
          </a:xfrm>
          <a:prstGeom prst="rect">
            <a:avLst/>
          </a:prstGeom>
          <a:solidFill>
            <a:srgbClr val="C76EEF">
              <a:alpha val="3765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MODELO</a:t>
            </a:r>
            <a:endParaRPr sz="1100"/>
          </a:p>
        </p:txBody>
      </p:sp>
      <p:sp>
        <p:nvSpPr>
          <p:cNvPr id="429" name="Google Shape;429;p45"/>
          <p:cNvSpPr txBox="1"/>
          <p:nvPr/>
        </p:nvSpPr>
        <p:spPr>
          <a:xfrm>
            <a:off x="1736787" y="3030125"/>
            <a:ext cx="1253100" cy="309000"/>
          </a:xfrm>
          <a:prstGeom prst="rect">
            <a:avLst/>
          </a:prstGeom>
          <a:solidFill>
            <a:srgbClr val="C76EEF">
              <a:alpha val="3765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COMPONENTE</a:t>
            </a:r>
            <a:endParaRPr sz="1100"/>
          </a:p>
        </p:txBody>
      </p:sp>
      <p:sp>
        <p:nvSpPr>
          <p:cNvPr id="430" name="Google Shape;430;p45"/>
          <p:cNvSpPr txBox="1"/>
          <p:nvPr/>
        </p:nvSpPr>
        <p:spPr>
          <a:xfrm>
            <a:off x="1913838" y="3955306"/>
            <a:ext cx="1197900" cy="351600"/>
          </a:xfrm>
          <a:prstGeom prst="rect">
            <a:avLst/>
          </a:prstGeom>
          <a:solidFill>
            <a:srgbClr val="C76EEF">
              <a:alpha val="3765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TEMPLATE</a:t>
            </a:r>
            <a:endParaRPr sz="1100"/>
          </a:p>
        </p:txBody>
      </p:sp>
      <p:sp>
        <p:nvSpPr>
          <p:cNvPr id="431" name="Google Shape;431;p45"/>
          <p:cNvSpPr/>
          <p:nvPr/>
        </p:nvSpPr>
        <p:spPr>
          <a:xfrm rot="-1289">
            <a:off x="873775" y="3073445"/>
            <a:ext cx="800100" cy="277200"/>
          </a:xfrm>
          <a:prstGeom prst="left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FFFFF"/>
              </a:gs>
              <a:gs pos="100000">
                <a:srgbClr val="A8CFD4"/>
              </a:gs>
            </a:gsLst>
            <a:lin ang="5400012" scaled="0"/>
          </a:gradFill>
          <a:ln w="9525" cap="flat" cmpd="sng">
            <a:solidFill>
              <a:srgbClr val="CCE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432" name="Google Shape;432;p45"/>
          <p:cNvSpPr/>
          <p:nvPr/>
        </p:nvSpPr>
        <p:spPr>
          <a:xfrm rot="5396014">
            <a:off x="2162093" y="3479639"/>
            <a:ext cx="517500" cy="259800"/>
          </a:xfrm>
          <a:prstGeom prst="left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FFFFF"/>
              </a:gs>
              <a:gs pos="100000">
                <a:srgbClr val="A8CFD4"/>
              </a:gs>
            </a:gsLst>
            <a:lin ang="5400012" scaled="0"/>
          </a:gradFill>
          <a:ln w="9525" cap="flat" cmpd="sng">
            <a:solidFill>
              <a:srgbClr val="CCE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aphicFrame>
        <p:nvGraphicFramePr>
          <p:cNvPr id="433" name="Google Shape;433;p45"/>
          <p:cNvGraphicFramePr/>
          <p:nvPr/>
        </p:nvGraphicFramePr>
        <p:xfrm>
          <a:off x="3345200" y="454975"/>
          <a:ext cx="5384425" cy="3979799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538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43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Component, inject } </a:t>
                      </a: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'@angular/core'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Genero } </a:t>
                      </a: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'../../domain/genero.model'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GeneroService } </a:t>
                      </a: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'../../services/genero.service'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en-US" sz="1050">
                          <a:solidFill>
                            <a:srgbClr val="ED963D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CommonModule 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'@angular/common'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AE7313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@Component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({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selector: </a:t>
                      </a:r>
                      <a:r>
                        <a:rPr lang="en-US" sz="10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'app-pelicula-insert.component'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imports: [</a:t>
                      </a:r>
                      <a:r>
                        <a:rPr lang="en-US" sz="1050">
                          <a:solidFill>
                            <a:srgbClr val="ED963D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CommonModule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templateUrl: </a:t>
                      </a:r>
                      <a:r>
                        <a:rPr lang="en-US" sz="10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'./pelicula-insert.component.html'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styleUrl: </a:t>
                      </a:r>
                      <a:r>
                        <a:rPr lang="en-US" sz="1050">
                          <a:solidFill>
                            <a:srgbClr val="7D972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'./pelicula-insert.component.css'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PeliculaInsertComponent {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readonly generoService = inject(GeneroService); </a:t>
                      </a:r>
                      <a:endParaRPr sz="1050">
                        <a:solidFill>
                          <a:srgbClr val="5F5E4E"/>
                        </a:solidFill>
                        <a:highlight>
                          <a:srgbClr val="F4F3EC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6C6B5A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// inyección de GeneroService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generos = </a:t>
                      </a: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.generoService.generos; </a:t>
                      </a:r>
                      <a:endParaRPr sz="1050">
                        <a:solidFill>
                          <a:srgbClr val="5F5E4E"/>
                        </a:solidFill>
                        <a:highlight>
                          <a:srgbClr val="F4F3EC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6C6B5A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// suscripción reactiva a los géneros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050">
                          <a:solidFill>
                            <a:srgbClr val="5F9182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constructor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(){  }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ngOnInit(): </a:t>
                      </a:r>
                      <a:r>
                        <a:rPr lang="en-US" sz="1050">
                          <a:solidFill>
                            <a:srgbClr val="AE7313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0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solidFill>
                      <a:srgbClr val="F4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6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2739900" cy="21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Actualizar plantilla HTML</a:t>
            </a:r>
            <a:endParaRPr/>
          </a:p>
        </p:txBody>
      </p:sp>
      <p:sp>
        <p:nvSpPr>
          <p:cNvPr id="440" name="Google Shape;440;p46"/>
          <p:cNvSpPr txBox="1"/>
          <p:nvPr/>
        </p:nvSpPr>
        <p:spPr>
          <a:xfrm>
            <a:off x="0" y="3030125"/>
            <a:ext cx="844800" cy="309000"/>
          </a:xfrm>
          <a:prstGeom prst="rect">
            <a:avLst/>
          </a:prstGeom>
          <a:solidFill>
            <a:srgbClr val="C76EEF">
              <a:alpha val="3765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MODELO</a:t>
            </a:r>
            <a:endParaRPr sz="1100"/>
          </a:p>
        </p:txBody>
      </p:sp>
      <p:sp>
        <p:nvSpPr>
          <p:cNvPr id="441" name="Google Shape;441;p46"/>
          <p:cNvSpPr txBox="1"/>
          <p:nvPr/>
        </p:nvSpPr>
        <p:spPr>
          <a:xfrm>
            <a:off x="1736787" y="3030125"/>
            <a:ext cx="1253100" cy="309000"/>
          </a:xfrm>
          <a:prstGeom prst="rect">
            <a:avLst/>
          </a:prstGeom>
          <a:solidFill>
            <a:srgbClr val="C76EEF">
              <a:alpha val="3765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COMPONENTE</a:t>
            </a:r>
            <a:endParaRPr sz="1100"/>
          </a:p>
        </p:txBody>
      </p:sp>
      <p:sp>
        <p:nvSpPr>
          <p:cNvPr id="442" name="Google Shape;442;p46"/>
          <p:cNvSpPr txBox="1"/>
          <p:nvPr/>
        </p:nvSpPr>
        <p:spPr>
          <a:xfrm>
            <a:off x="1913838" y="3955306"/>
            <a:ext cx="1197900" cy="351600"/>
          </a:xfrm>
          <a:prstGeom prst="rect">
            <a:avLst/>
          </a:prstGeom>
          <a:solidFill>
            <a:srgbClr val="C76EEF">
              <a:alpha val="3765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TEMPLATE</a:t>
            </a:r>
            <a:endParaRPr sz="1100"/>
          </a:p>
        </p:txBody>
      </p:sp>
      <p:sp>
        <p:nvSpPr>
          <p:cNvPr id="443" name="Google Shape;443;p46"/>
          <p:cNvSpPr/>
          <p:nvPr/>
        </p:nvSpPr>
        <p:spPr>
          <a:xfrm rot="-1289">
            <a:off x="873775" y="3073445"/>
            <a:ext cx="800100" cy="277200"/>
          </a:xfrm>
          <a:prstGeom prst="left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FFFFF"/>
              </a:gs>
              <a:gs pos="100000">
                <a:srgbClr val="A8CFD4"/>
              </a:gs>
            </a:gsLst>
            <a:lin ang="5400012" scaled="0"/>
          </a:gradFill>
          <a:ln w="9525" cap="flat" cmpd="sng">
            <a:solidFill>
              <a:srgbClr val="CCE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444" name="Google Shape;444;p46"/>
          <p:cNvSpPr/>
          <p:nvPr/>
        </p:nvSpPr>
        <p:spPr>
          <a:xfrm rot="5396014">
            <a:off x="2162093" y="3479639"/>
            <a:ext cx="517500" cy="259800"/>
          </a:xfrm>
          <a:prstGeom prst="left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FFFFF"/>
              </a:gs>
              <a:gs pos="100000">
                <a:srgbClr val="A8CFD4"/>
              </a:gs>
            </a:gsLst>
            <a:lin ang="5400012" scaled="0"/>
          </a:gradFill>
          <a:ln w="9525" cap="flat" cmpd="sng">
            <a:solidFill>
              <a:srgbClr val="CCE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aphicFrame>
        <p:nvGraphicFramePr>
          <p:cNvPr id="445" name="Google Shape;445;p46"/>
          <p:cNvGraphicFramePr/>
          <p:nvPr/>
        </p:nvGraphicFramePr>
        <p:xfrm>
          <a:off x="3799050" y="677900"/>
          <a:ext cx="5487950" cy="1955546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548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&lt;!-- Uso del pipe async --&gt;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&lt;!-- https://angular.dev/guide/templates --&gt;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&lt;label for="</a:t>
                      </a:r>
                      <a:r>
                        <a:rPr lang="en-US" sz="1050">
                          <a:solidFill>
                            <a:srgbClr val="1155CC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generoSelect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"&gt;Seleccionar género:&lt;/label&gt;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&lt;select id="</a:t>
                      </a:r>
                      <a:r>
                        <a:rPr lang="en-US" sz="1050">
                          <a:solidFill>
                            <a:srgbClr val="1155CC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generoSelect</a:t>
                      </a:r>
                      <a:r>
                        <a:rPr lang="en-US" sz="1050">
                          <a:solidFill>
                            <a:srgbClr val="BA623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"&gt;</a:t>
                      </a:r>
                      <a:br>
                        <a:rPr lang="en-US" sz="1050">
                          <a:solidFill>
                            <a:srgbClr val="BA623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BA623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&lt;!--The async pipe makes rendering values emitted from the Observable easier--&gt;</a:t>
                      </a:r>
                      <a:br>
                        <a:rPr lang="en-US" sz="1050">
                          <a:solidFill>
                            <a:srgbClr val="BA623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BA623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</a:t>
                      </a:r>
                      <a:r>
                        <a:rPr lang="en-US" sz="1050">
                          <a:solidFill>
                            <a:srgbClr val="AF00DB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@for</a:t>
                      </a:r>
                      <a:r>
                        <a:rPr lang="en-US" sz="1050">
                          <a:solidFill>
                            <a:srgbClr val="BA623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(genero of generos | async; track genero.id) {</a:t>
                      </a:r>
                      <a:br>
                        <a:rPr lang="en-US" sz="1050">
                          <a:solidFill>
                            <a:srgbClr val="BA623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BA623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&lt;option [value]="genero.id"&gt;{{ genero.nombre }}&lt;/</a:t>
                      </a: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option&gt;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}</a:t>
                      </a:r>
                      <a:b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F5E4E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&lt;</a:t>
                      </a:r>
                      <a:r>
                        <a:rPr lang="en-US" sz="1050">
                          <a:solidFill>
                            <a:srgbClr val="BA6236"/>
                          </a:solidFill>
                          <a:highlight>
                            <a:srgbClr val="F4F3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/select&gt;</a:t>
                      </a:r>
                      <a:endParaRPr sz="10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solidFill>
                      <a:srgbClr val="F4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2571150" y="2235000"/>
            <a:ext cx="59001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del código del componente para seleccionar los actores de las películas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la clase Service</a:t>
            </a:r>
            <a:endParaRPr/>
          </a:p>
        </p:txBody>
      </p:sp>
      <p:graphicFrame>
        <p:nvGraphicFramePr>
          <p:cNvPr id="458" name="Google Shape;458;p48"/>
          <p:cNvGraphicFramePr/>
          <p:nvPr/>
        </p:nvGraphicFramePr>
        <p:xfrm>
          <a:off x="250950" y="682225"/>
          <a:ext cx="8293250" cy="355664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829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 generate service </a:t>
                      </a:r>
                      <a:r>
                        <a:rPr lang="en-US" b="1">
                          <a:solidFill>
                            <a:srgbClr val="FF990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actor.service </a:t>
                      </a:r>
                      <a:r>
                        <a:rPr lang="en-US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--path src/app/services</a:t>
                      </a:r>
                      <a:endParaRPr/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9" name="Google Shape;459;p48"/>
          <p:cNvGraphicFramePr/>
          <p:nvPr/>
        </p:nvGraphicFramePr>
        <p:xfrm>
          <a:off x="2478475" y="1232713"/>
          <a:ext cx="5559600" cy="3243707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555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HttpClient } </a:t>
                      </a: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568C3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'@angular/common/http'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inject, Injectable } </a:t>
                      </a: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568C3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'@angular/core'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environment } </a:t>
                      </a: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568C3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'../../environments/environment'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Actor } </a:t>
                      </a: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568C3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'../domain/actor.doman'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935C25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@Injectable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({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providedIn: </a:t>
                      </a:r>
                      <a:r>
                        <a:rPr lang="en-US" sz="1050">
                          <a:solidFill>
                            <a:srgbClr val="568C3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'root'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ActorService {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http = inject(HttpClient); </a:t>
                      </a:r>
                      <a:r>
                        <a:rPr lang="en-US" sz="1050">
                          <a:solidFill>
                            <a:srgbClr val="5A7B8C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inyección de HttpClient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url:</a:t>
                      </a:r>
                      <a:r>
                        <a:rPr lang="en-US" sz="1050">
                          <a:solidFill>
                            <a:srgbClr val="935C25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environment.API_URL;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actores = </a:t>
                      </a: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.http.get&lt;Actor[]&gt;(</a:t>
                      </a:r>
                      <a:r>
                        <a:rPr lang="en-US" sz="1050">
                          <a:solidFill>
                            <a:srgbClr val="568C3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`${this.url}actores`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050">
                          <a:solidFill>
                            <a:srgbClr val="6B6BB8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constructor</a:t>
                      </a: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 }</a:t>
                      </a: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516D7B"/>
                          </a:solidFill>
                          <a:highlight>
                            <a:srgbClr val="EB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0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9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2177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Código de la clase del componente</a:t>
            </a:r>
            <a:endParaRPr sz="2600"/>
          </a:p>
        </p:txBody>
      </p:sp>
      <p:graphicFrame>
        <p:nvGraphicFramePr>
          <p:cNvPr id="466" name="Google Shape;466;p49"/>
          <p:cNvGraphicFramePr/>
          <p:nvPr/>
        </p:nvGraphicFramePr>
        <p:xfrm>
          <a:off x="2322075" y="152400"/>
          <a:ext cx="6373800" cy="4244023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637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Component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inject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 </a:t>
                      </a: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'@angular/core'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Genero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 </a:t>
                      </a: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'../../domain/genero.model'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GeneroService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 </a:t>
                      </a: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'../../services/genero.service'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CommonModule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 </a:t>
                      </a: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'@angular/common'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ActorService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 </a:t>
                      </a: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'../../services/actor.service'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para conectar un elemento form (&lt;select&gt;, &lt;input&gt;, etc) con una property en el componente</a:t>
                      </a:r>
                      <a:endParaRPr sz="9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When the user changes the value in the form element, the component's property updates, and vice versa</a:t>
                      </a:r>
                      <a:endParaRPr sz="9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FormsModule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 </a:t>
                      </a: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'@angular/forms'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 </a:t>
                      </a:r>
                      <a:r>
                        <a:rPr lang="en-US" sz="9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incluirlo en los imports</a:t>
                      </a:r>
                      <a:endParaRPr sz="9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 </a:t>
                      </a: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'../../domain/actor.doman'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@</a:t>
                      </a:r>
                      <a:r>
                        <a:rPr lang="en-US" sz="9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Component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({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selector: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'app-pelicula-insert.component'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imports: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en-US" sz="9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CommonModule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9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FormsModule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templateUrl: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'./pelicula-insert.component.html'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styleUrl: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'./pelicula-insert.component.css'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PeliculaInsertComponent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readonly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70C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generoService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inject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9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GeneroService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en-US" sz="9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inyección de GeneroService</a:t>
                      </a:r>
                      <a:endParaRPr sz="9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readonly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70C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actorService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inject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9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ActorService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en-US" sz="9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inyección de ActorService</a:t>
                      </a:r>
                      <a:endParaRPr sz="950">
                        <a:solidFill>
                          <a:srgbClr val="95412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0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2177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Código de la clase del componente</a:t>
            </a:r>
            <a:endParaRPr sz="2600"/>
          </a:p>
        </p:txBody>
      </p:sp>
      <p:graphicFrame>
        <p:nvGraphicFramePr>
          <p:cNvPr id="473" name="Google Shape;473;p50"/>
          <p:cNvGraphicFramePr/>
          <p:nvPr/>
        </p:nvGraphicFramePr>
        <p:xfrm>
          <a:off x="2322075" y="152400"/>
          <a:ext cx="6373800" cy="3437573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637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generos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70C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generoService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generos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r>
                        <a:rPr lang="en-US" sz="9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suscripción reactiva a los géneros</a:t>
                      </a:r>
                      <a:endParaRPr sz="9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70C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actorService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r>
                        <a:rPr lang="en-US" sz="9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suscripción reactiva a los actores</a:t>
                      </a:r>
                      <a:endParaRPr sz="9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idActorSeleccionado</a:t>
                      </a:r>
                      <a:r>
                        <a:rPr lang="en-US" sz="9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number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undefined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r>
                        <a:rPr lang="en-US" sz="9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ID del actor por agregar (SELECT)</a:t>
                      </a:r>
                      <a:endParaRPr sz="9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actoresDisponibles</a:t>
                      </a:r>
                      <a:r>
                        <a:rPr lang="en-US" sz="9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[] </a:t>
                      </a:r>
                      <a:r>
                        <a:rPr lang="en-US" sz="9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[]; </a:t>
                      </a:r>
                      <a:r>
                        <a:rPr lang="en-US" sz="9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lista de actores disponibles para agregar a la película</a:t>
                      </a:r>
                      <a:endParaRPr sz="9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actoresPelicula</a:t>
                      </a:r>
                      <a:r>
                        <a:rPr lang="en-US" sz="9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[] </a:t>
                      </a:r>
                      <a:r>
                        <a:rPr lang="en-US" sz="9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[]; </a:t>
                      </a:r>
                      <a:r>
                        <a:rPr lang="en-US" sz="9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lista de actores asociados a la película</a:t>
                      </a:r>
                      <a:endParaRPr sz="9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constructor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(){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9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Inicializar la lista de actores disponibles con los actores obtenidos del servicio</a:t>
                      </a:r>
                      <a:endParaRPr sz="9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subscribe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actoresDisponibles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});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ngOnInit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-US" sz="9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50">
                        <a:solidFill>
                          <a:srgbClr val="95412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9" name="Google Shape;479;p51"/>
          <p:cNvGraphicFramePr/>
          <p:nvPr/>
        </p:nvGraphicFramePr>
        <p:xfrm>
          <a:off x="2186725" y="152400"/>
          <a:ext cx="6957275" cy="3261106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69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agregarActor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-US" sz="8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idActorSeleccionado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0070C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actorEncontrado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actoresDisponibles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find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===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Number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idActorSeleccionado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</a:t>
                      </a:r>
                      <a:r>
                        <a:rPr lang="en-US" sz="8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 sz="850">
                          <a:solidFill>
                            <a:srgbClr val="0070C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actorEncontrado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&amp;&amp;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actoresPelicula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includes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850">
                          <a:solidFill>
                            <a:srgbClr val="0070C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actorEncontrado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{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actoresPelicula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850">
                          <a:solidFill>
                            <a:srgbClr val="0070C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actorEncontrado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Eliminar el actor de la lista de disponibles para evitar duplicados</a:t>
                      </a:r>
                      <a:endParaRPr sz="8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actoresDisponibles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actoresDisponibles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filter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!==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0070C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actorEncontrado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}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r>
                        <a:rPr lang="en-US" sz="8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agregarActor</a:t>
                      </a:r>
                      <a:endParaRPr sz="8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removerActor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8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r>
                        <a:rPr lang="en-US" sz="8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267F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Eliminar el actor de la película</a:t>
                      </a:r>
                      <a:endParaRPr sz="8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actoresPelicula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actoresPelicula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filter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!==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Agregar el actor de nuevo a la lista de disponibles</a:t>
                      </a:r>
                      <a:endParaRPr sz="8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actoresDisponibles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8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8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8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5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0" name="Google Shape;480;p51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2177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Código de la clase del componente</a:t>
            </a:r>
            <a:endParaRPr sz="26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2"/>
          <p:cNvSpPr txBox="1">
            <a:spLocks noGrp="1"/>
          </p:cNvSpPr>
          <p:nvPr>
            <p:ph type="title"/>
          </p:nvPr>
        </p:nvSpPr>
        <p:spPr>
          <a:xfrm>
            <a:off x="144675" y="202225"/>
            <a:ext cx="2177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Código de la plantilla HTML</a:t>
            </a:r>
            <a:endParaRPr sz="2600"/>
          </a:p>
        </p:txBody>
      </p:sp>
      <p:graphicFrame>
        <p:nvGraphicFramePr>
          <p:cNvPr id="487" name="Google Shape;487;p52"/>
          <p:cNvGraphicFramePr/>
          <p:nvPr/>
        </p:nvGraphicFramePr>
        <p:xfrm>
          <a:off x="2135125" y="90750"/>
          <a:ext cx="5949775" cy="4253525"/>
        </p:xfrm>
        <a:graphic>
          <a:graphicData uri="http://schemas.openxmlformats.org/drawingml/2006/table">
            <a:tbl>
              <a:tblPr>
                <a:noFill/>
                <a:tableStyleId>{C7107D7D-4402-4B29-8B6B-A2FF8F978C89}</a:tableStyleId>
              </a:tblPr>
              <a:tblGrid>
                <a:gridCol w="594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3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&lt;div&gt;</a:t>
                      </a:r>
                      <a:endParaRPr sz="9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&lt;label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E5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"actorSelect"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 por agregar: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&lt;/label&gt;</a:t>
                      </a:r>
                      <a:endParaRPr sz="9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&lt;select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E5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"actorSelect"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E5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[(ngModel)]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idActorSeleccionado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9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</a:t>
                      </a:r>
                      <a:r>
                        <a:rPr lang="en-US" sz="95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&lt;!--The async pipe makes rendering values emitted from the Observable easier--&gt;</a:t>
                      </a:r>
                      <a:endParaRPr sz="950">
                        <a:solidFill>
                          <a:srgbClr val="008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</a:t>
                      </a: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@for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 sz="950">
                          <a:solidFill>
                            <a:srgbClr val="0070C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actoresDisponibles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track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&lt;option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E5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[value]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{{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}} {{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apellidos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}}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&lt;/option&gt;</a:t>
                      </a:r>
                      <a:endParaRPr sz="9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}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&lt;/select&gt;</a:t>
                      </a:r>
                      <a:endParaRPr sz="9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&lt;button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E5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(click)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 sz="9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agregarActor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Agregar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&lt;/button&gt;</a:t>
                      </a:r>
                      <a:endParaRPr sz="9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&lt;/div&gt;</a:t>
                      </a:r>
                      <a:endParaRPr sz="9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&lt;div&gt;</a:t>
                      </a:r>
                      <a:endParaRPr sz="9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&lt;h3&gt;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 asociados a la película: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&lt;/h3&gt;</a:t>
                      </a:r>
                      <a:endParaRPr sz="9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&lt;ul&gt;</a:t>
                      </a:r>
                      <a:endParaRPr sz="9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</a:t>
                      </a: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@for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 sz="950">
                          <a:solidFill>
                            <a:srgbClr val="0070C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actoresPelicula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r>
                        <a:rPr lang="en-US" sz="950">
                          <a:solidFill>
                            <a:srgbClr val="AF00D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track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&lt;li&gt;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{{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}} {{ 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apellidos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}}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&lt;button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950">
                          <a:solidFill>
                            <a:srgbClr val="E5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(click)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 sz="950">
                          <a:solidFill>
                            <a:srgbClr val="795E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removerActor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950">
                          <a:solidFill>
                            <a:srgbClr val="001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actor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r>
                        <a:rPr lang="en-US" sz="95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Remover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&lt;/button&gt;</a:t>
                      </a:r>
                      <a:endParaRPr sz="9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&lt;/li&gt;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}</a:t>
                      </a:r>
                      <a:endParaRPr sz="950">
                        <a:solidFill>
                          <a:srgbClr val="3B3B3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50">
                          <a:solidFill>
                            <a:srgbClr val="3B3B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950">
                          <a:solidFill>
                            <a:srgbClr val="8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&lt;/ul&gt;</a:t>
                      </a:r>
                      <a:endParaRPr sz="950">
                        <a:solidFill>
                          <a:srgbClr val="8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solidFill>
                      <a:srgbClr val="F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3"/>
          <p:cNvSpPr txBox="1">
            <a:spLocks noGrp="1"/>
          </p:cNvSpPr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493" name="Google Shape;493;p53"/>
          <p:cNvSpPr txBox="1">
            <a:spLocks noGrp="1"/>
          </p:cNvSpPr>
          <p:nvPr>
            <p:ph type="body" idx="4294967295"/>
          </p:nvPr>
        </p:nvSpPr>
        <p:spPr>
          <a:xfrm>
            <a:off x="457200" y="1063228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Callaghan, M. D. (2024). </a:t>
            </a:r>
            <a:r>
              <a:rPr lang="en-US" sz="1500" i="1">
                <a:solidFill>
                  <a:schemeClr val="dk1"/>
                </a:solidFill>
              </a:rPr>
              <a:t>Angular for business: Awaken the advocate within and become the Angular expert at work</a:t>
            </a:r>
            <a:r>
              <a:rPr lang="en-US" sz="1500">
                <a:solidFill>
                  <a:schemeClr val="dk1"/>
                </a:solidFill>
              </a:rPr>
              <a:t>. Apress.</a:t>
            </a:r>
            <a:r>
              <a:rPr lang="en-US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5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https://doi.org/10.1007/978-1-4842-9609-7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</a:endParaRPr>
          </a:p>
          <a:p>
            <a:pPr marL="0" marR="0" lvl="0" indent="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Freeman, A. (2017). </a:t>
            </a:r>
            <a:r>
              <a:rPr lang="en-US" sz="1500" i="1">
                <a:solidFill>
                  <a:schemeClr val="dk1"/>
                </a:solidFill>
              </a:rPr>
              <a:t>Pro angular</a:t>
            </a:r>
            <a:r>
              <a:rPr lang="en-US" sz="1500">
                <a:solidFill>
                  <a:schemeClr val="dk1"/>
                </a:solidFill>
              </a:rPr>
              <a:t>. UK:Apress.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</a:endParaRPr>
          </a:p>
          <a:p>
            <a:pPr marL="0" marR="0" lvl="0" indent="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Kotaru V.K. (2016) </a:t>
            </a:r>
            <a:r>
              <a:rPr lang="en-US" sz="1500" i="1">
                <a:solidFill>
                  <a:schemeClr val="dk1"/>
                </a:solidFill>
              </a:rPr>
              <a:t>Introduction to Angular Material. In: Material Design implementation with AngularJS</a:t>
            </a:r>
            <a:r>
              <a:rPr lang="en-US" sz="1500">
                <a:solidFill>
                  <a:schemeClr val="dk1"/>
                </a:solidFill>
              </a:rPr>
              <a:t>. Apress, Berkeley, CA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</a:endParaRPr>
          </a:p>
          <a:p>
            <a:pPr marL="0" marR="0" lvl="0" indent="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Soni, R. K. (2017). </a:t>
            </a:r>
            <a:r>
              <a:rPr lang="en-US" sz="1500" i="1">
                <a:solidFill>
                  <a:schemeClr val="dk1"/>
                </a:solidFill>
              </a:rPr>
              <a:t>Full Stack AngularJS for Java Developers Build a Full-Featured Web Application from Scratch Using AngularJS with Spring RESTful</a:t>
            </a:r>
            <a:r>
              <a:rPr lang="en-US" sz="1500">
                <a:solidFill>
                  <a:schemeClr val="dk1"/>
                </a:solidFill>
              </a:rPr>
              <a:t>. NY, USA:Apress.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ans Symbols"/>
              <a:buNone/>
            </a:pPr>
            <a:endParaRPr sz="1500" i="1" u="none" strike="noStrike" cap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GRA2">
  <a:themeElements>
    <a:clrScheme name="Diseño personaliz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4076</Words>
  <Application>Microsoft Office PowerPoint</Application>
  <PresentationFormat>Presentación en pantalla (16:9)</PresentationFormat>
  <Paragraphs>409</Paragraphs>
  <Slides>44</Slides>
  <Notes>44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53" baseType="lpstr">
      <vt:lpstr>Tahoma</vt:lpstr>
      <vt:lpstr>Arial</vt:lpstr>
      <vt:lpstr>Times New Roman</vt:lpstr>
      <vt:lpstr>Georgia</vt:lpstr>
      <vt:lpstr>Roboto</vt:lpstr>
      <vt:lpstr>Verdana</vt:lpstr>
      <vt:lpstr>Noto Sans Symbols</vt:lpstr>
      <vt:lpstr>Consolas</vt:lpstr>
      <vt:lpstr>PROGRA2</vt:lpstr>
      <vt:lpstr>Introducción a Angular</vt:lpstr>
      <vt:lpstr>¿Qué es Angular?</vt:lpstr>
      <vt:lpstr>¿Qué es Angular?</vt:lpstr>
      <vt:lpstr>¿Qué es Angular?</vt:lpstr>
      <vt:lpstr>Evolución de Angular</vt:lpstr>
      <vt:lpstr>¿Por qué un framework front-end?</vt:lpstr>
      <vt:lpstr>Configuración del ambiente de trabajo</vt:lpstr>
      <vt:lpstr>Node.js</vt:lpstr>
      <vt:lpstr>Node.js</vt:lpstr>
      <vt:lpstr>Angular-cli</vt:lpstr>
      <vt:lpstr>Angular-cli</vt:lpstr>
      <vt:lpstr>Creación de un proyecto Angular</vt:lpstr>
      <vt:lpstr>Creación y configuración del proyecto</vt:lpstr>
      <vt:lpstr>Abrir el proyecto para codificación</vt:lpstr>
      <vt:lpstr>Iniciar las herramientas de desarrollo de Angular</vt:lpstr>
      <vt:lpstr>Implementación de una funcionalidad</vt:lpstr>
      <vt:lpstr>Implementación de la funcionalidad</vt:lpstr>
      <vt:lpstr>Modelo de dominio</vt:lpstr>
      <vt:lpstr>Creación del modelo de dominio</vt:lpstr>
      <vt:lpstr>Creación del modelo de dominio</vt:lpstr>
      <vt:lpstr>Servicios</vt:lpstr>
      <vt:lpstr>Creación de una constante</vt:lpstr>
      <vt:lpstr>Creación de la clase Service Genero</vt:lpstr>
      <vt:lpstr>Proveer acceso a HttpClient a la aplicación</vt:lpstr>
      <vt:lpstr>Creación de un componente Angular</vt:lpstr>
      <vt:lpstr>Crear el componente para insertar películas</vt:lpstr>
      <vt:lpstr>¿Cómo luce un componente?</vt:lpstr>
      <vt:lpstr>¿Cómo luce una plantilla?</vt:lpstr>
      <vt:lpstr>¿Cómo luce el CSS?</vt:lpstr>
      <vt:lpstr>Eventos del ciclo de vida del componente</vt:lpstr>
      <vt:lpstr>Configurar el enrutamiento del componente</vt:lpstr>
      <vt:lpstr>Configurar el enrutamiento</vt:lpstr>
      <vt:lpstr>Configurar el enrutamiento</vt:lpstr>
      <vt:lpstr>Configurar el enrutamiento</vt:lpstr>
      <vt:lpstr>Creación del código del componente para cargar los géneros</vt:lpstr>
      <vt:lpstr>Actualizar código del componente para insertar películas</vt:lpstr>
      <vt:lpstr>Actualizar plantilla HTML</vt:lpstr>
      <vt:lpstr>Creación del código del componente para seleccionar los actores de las películas</vt:lpstr>
      <vt:lpstr>Creación de la clase Service</vt:lpstr>
      <vt:lpstr>Código de la clase del componente</vt:lpstr>
      <vt:lpstr>Código de la clase del componente</vt:lpstr>
      <vt:lpstr>Código de la clase del componente</vt:lpstr>
      <vt:lpstr>Código de la plantilla HTML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Jonathan Granados Cortés</cp:lastModifiedBy>
  <cp:revision>1</cp:revision>
  <dcterms:modified xsi:type="dcterms:W3CDTF">2026-09-13T20:24:06Z</dcterms:modified>
</cp:coreProperties>
</file>