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Tahoma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8CFC29-6F67-4E2E-AB34-15249B1F499E}">
  <a:tblStyle styleId="{A08CFC29-6F67-4E2E-AB34-15249B1F49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4DAECE8-6C76-4B44-BC96-D9B85F50494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Tahoma-bold.fntdata"/><Relationship Id="rId12" Type="http://schemas.openxmlformats.org/officeDocument/2006/relationships/slide" Target="slides/slide7.xml"/><Relationship Id="rId56" Type="http://schemas.openxmlformats.org/officeDocument/2006/relationships/font" Target="fonts/Tahoma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d98d3fc28b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d98d3fc28b_0_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2d98d3fc28b_0_7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e9dde7747_5_0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3e9dde7747_5_0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3ea591b5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3ea591b54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2e3ea591b54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e9dde7747_5_13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3e9dde7747_5_13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9dde7747_5_28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3e9dde7747_5_28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e9dde7747_5_21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3e9dde7747_5_21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e9dde7747_5_38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3e9dde7747_5_38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e9dde7747_5_43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3e9dde7747_5_43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e9dde7747_5_55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3e9dde7747_5_55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e9dde7747_5_64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3e9dde7747_5_64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e9dde7747_5_69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g33e9dde7747_5_69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dsfdsfasdfasd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e9dde7747_5_75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3e9dde7747_5_75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e9dde7747_5_86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3e9dde7747_5_86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e9dde7747_5_91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3e9dde7747_5_91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e9dde7747_5_96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3e9dde7747_5_96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e9dde7747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e9dde7747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3e9dde7747_0_3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e9dde7747_5_103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3e9dde7747_5_103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e9dde7747_5_110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3e9dde7747_5_110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e9dde7747_5_116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3e9dde7747_5_116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e9dde7747_5_128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3e9dde7747_5_128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e9dde7747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e9dde7747_0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3e9dde7747_0_4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e9dde7747_5_136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3e9dde7747_5_136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e9dde7747_5_142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3e9dde7747_5_142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e9dde7747_5_147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3e9dde7747_5_147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e9dde7747_5_152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3e9dde7747_5_152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e9dde7747_5_157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3e9dde7747_5_157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e9dde7747_5_165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3e9dde7747_5_165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e9dde7747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3e9dde7747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3e9dde7747_0_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e9dde7747_5_174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3e9dde7747_5_174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https://youtu.be/lO-pavgTewo?si=pqx1oNUmHW_kdzKs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df1a4ca08_0_37:notes"/>
          <p:cNvSpPr/>
          <p:nvPr>
            <p:ph idx="2" type="sldImg"/>
          </p:nvPr>
        </p:nvSpPr>
        <p:spPr>
          <a:xfrm>
            <a:off x="283639" y="792774"/>
            <a:ext cx="6290700" cy="321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cdf1a4ca08_0_37:notes"/>
          <p:cNvSpPr txBox="1"/>
          <p:nvPr>
            <p:ph idx="1" type="body"/>
          </p:nvPr>
        </p:nvSpPr>
        <p:spPr>
          <a:xfrm>
            <a:off x="831420" y="4344866"/>
            <a:ext cx="51951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https://youtu.be/lO-pavgTewo?si=pqx1oNUmHW_kdzKs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df1a4ca08_0_21:notes"/>
          <p:cNvSpPr/>
          <p:nvPr>
            <p:ph idx="2" type="sldImg"/>
          </p:nvPr>
        </p:nvSpPr>
        <p:spPr>
          <a:xfrm>
            <a:off x="283639" y="792774"/>
            <a:ext cx="6290700" cy="321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cdf1a4ca08_0_21:notes"/>
          <p:cNvSpPr txBox="1"/>
          <p:nvPr>
            <p:ph idx="1" type="body"/>
          </p:nvPr>
        </p:nvSpPr>
        <p:spPr>
          <a:xfrm>
            <a:off x="831420" y="4344866"/>
            <a:ext cx="51951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3e9dde7747_7_80:notes"/>
          <p:cNvSpPr/>
          <p:nvPr>
            <p:ph idx="2" type="sldImg"/>
          </p:nvPr>
        </p:nvSpPr>
        <p:spPr>
          <a:xfrm>
            <a:off x="283639" y="792774"/>
            <a:ext cx="6290700" cy="321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33e9dde7747_7_80:notes"/>
          <p:cNvSpPr txBox="1"/>
          <p:nvPr>
            <p:ph idx="1" type="body"/>
          </p:nvPr>
        </p:nvSpPr>
        <p:spPr>
          <a:xfrm>
            <a:off x="831420" y="4344866"/>
            <a:ext cx="51951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df1a4ca08_0_56:notes"/>
          <p:cNvSpPr/>
          <p:nvPr>
            <p:ph idx="2" type="sldImg"/>
          </p:nvPr>
        </p:nvSpPr>
        <p:spPr>
          <a:xfrm>
            <a:off x="283639" y="792774"/>
            <a:ext cx="6290700" cy="321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cdf1a4ca08_0_56:notes"/>
          <p:cNvSpPr txBox="1"/>
          <p:nvPr>
            <p:ph idx="1" type="body"/>
          </p:nvPr>
        </p:nvSpPr>
        <p:spPr>
          <a:xfrm>
            <a:off x="831420" y="4344866"/>
            <a:ext cx="51951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e9dde7747_7_116:notes"/>
          <p:cNvSpPr/>
          <p:nvPr>
            <p:ph idx="2" type="sldImg"/>
          </p:nvPr>
        </p:nvSpPr>
        <p:spPr>
          <a:xfrm>
            <a:off x="283639" y="792774"/>
            <a:ext cx="6290700" cy="321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g33e9dde7747_7_116:notes"/>
          <p:cNvSpPr txBox="1"/>
          <p:nvPr>
            <p:ph idx="1" type="body"/>
          </p:nvPr>
        </p:nvSpPr>
        <p:spPr>
          <a:xfrm>
            <a:off x="831420" y="4344866"/>
            <a:ext cx="51951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3e9dde7747_7_129:notes"/>
          <p:cNvSpPr/>
          <p:nvPr>
            <p:ph idx="2" type="sldImg"/>
          </p:nvPr>
        </p:nvSpPr>
        <p:spPr>
          <a:xfrm>
            <a:off x="283639" y="792774"/>
            <a:ext cx="6290700" cy="321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g33e9dde7747_7_129:notes"/>
          <p:cNvSpPr txBox="1"/>
          <p:nvPr>
            <p:ph idx="1" type="body"/>
          </p:nvPr>
        </p:nvSpPr>
        <p:spPr>
          <a:xfrm>
            <a:off x="831420" y="4344866"/>
            <a:ext cx="51951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3e9dde7747_7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3e9dde7747_7_1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3e9dde7747_7_14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e9dde7747_5_202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3e9dde7747_5_202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e9dde7747_5_210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g33e9dde7747_5_210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3e9dde7747_5_222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g33e9dde7747_5_222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3700" spcFirstLastPara="1" rIns="93700" wrap="square" tIns="46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df1a4ca08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cdf1a4ca08_0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cdf1a4ca08_0_6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3e9dde7747_5_227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3e9dde7747_5_227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df1a4ca08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df1a4ca08_0_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cdf1a4ca08_0_7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df1a4ca08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cdf1a4ca08_0_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cdf1a4ca08_0_8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e9dde7747_7_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e9dde7747_7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3e9dde7747_7_15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e9dde7747_5_246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3e9dde7747_5_246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3e9dde7747_5_254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3e9dde7747_5_254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3e9dde7747_5_238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3e9dde7747_5_238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3e9dde7747_7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3e9dde7747_7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3e9dde7747_7_1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Verdana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3e9dde7747_5_233:notes"/>
          <p:cNvSpPr txBox="1"/>
          <p:nvPr>
            <p:ph idx="1" type="body"/>
          </p:nvPr>
        </p:nvSpPr>
        <p:spPr>
          <a:xfrm>
            <a:off x="831420" y="4344866"/>
            <a:ext cx="5195161" cy="385396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3e9dde7747_5_233:notes"/>
          <p:cNvSpPr/>
          <p:nvPr>
            <p:ph idx="2" type="sldImg"/>
          </p:nvPr>
        </p:nvSpPr>
        <p:spPr>
          <a:xfrm>
            <a:off x="283639" y="792774"/>
            <a:ext cx="6290723" cy="321212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3e9dde7747_5_271:notes"/>
          <p:cNvSpPr txBox="1"/>
          <p:nvPr>
            <p:ph idx="1" type="body"/>
          </p:nvPr>
        </p:nvSpPr>
        <p:spPr>
          <a:xfrm>
            <a:off x="831420" y="4344866"/>
            <a:ext cx="5195100" cy="38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3e9dde7747_5_271:notes"/>
          <p:cNvSpPr/>
          <p:nvPr>
            <p:ph idx="2" type="sldImg"/>
          </p:nvPr>
        </p:nvSpPr>
        <p:spPr>
          <a:xfrm>
            <a:off x="283630" y="792774"/>
            <a:ext cx="6290800" cy="321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rgbClr val="8AA357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893100" y="981925"/>
            <a:ext cx="52509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57200" marR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914400" marR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371600" marR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828800" marR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057650" y="2084425"/>
            <a:ext cx="49218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Georgia"/>
              <a:buNone/>
              <a:defRPr b="1" i="0" sz="17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41300" lvl="1" marL="742950" marR="0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–"/>
              <a:defRPr i="0" sz="2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209550" lvl="2" marL="1143000" marR="0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•"/>
              <a:defRPr i="0" sz="2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234950" lvl="3" marL="1600200" marR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–"/>
              <a:defRPr i="0" sz="2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234950" lvl="4" marL="2057400" marR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i="0" sz="2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234950" lvl="5" marL="2514600" marR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i="0" sz="2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234950" lvl="6" marL="2971800" marR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i="0" sz="2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234950" lvl="7" marL="3429000" marR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i="0" sz="2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234950" lvl="8" marL="3886200" marR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eorgia"/>
              <a:buChar char="»"/>
              <a:defRPr i="0" sz="21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4683919"/>
            <a:ext cx="2133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9715" l="0" r="26112" t="0"/>
          <a:stretch/>
        </p:blipFill>
        <p:spPr>
          <a:xfrm>
            <a:off x="4328250" y="3862950"/>
            <a:ext cx="4686397" cy="9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9950" y="-895950"/>
            <a:ext cx="4298425" cy="42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8AA357"/>
          </a:solidFill>
          <a:ln cap="flat" cmpd="sng" w="9525">
            <a:solidFill>
              <a:srgbClr val="8AA3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2400"/>
              <a:buNone/>
              <a:defRPr b="0" sz="2400">
                <a:solidFill>
                  <a:srgbClr val="7D944E"/>
                </a:solidFill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683919"/>
            <a:ext cx="2133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10325" y="786225"/>
            <a:ext cx="8739600" cy="3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400"/>
              <a:buChar char="▪"/>
              <a:defRPr sz="2400">
                <a:solidFill>
                  <a:srgbClr val="7D944E"/>
                </a:solidFill>
              </a:defRPr>
            </a:lvl1pPr>
            <a:lvl2pPr indent="-355600" lvl="1" marL="914400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000"/>
              <a:buChar char="–"/>
              <a:defRPr sz="2000">
                <a:solidFill>
                  <a:srgbClr val="666666"/>
                </a:solidFill>
              </a:defRPr>
            </a:lvl2pPr>
            <a:lvl3pPr indent="-342900" lvl="2" marL="1371600">
              <a:spcBef>
                <a:spcPts val="480"/>
              </a:spcBef>
              <a:spcAft>
                <a:spcPts val="0"/>
              </a:spcAft>
              <a:buClr>
                <a:srgbClr val="7D944E"/>
              </a:buClr>
              <a:buSzPts val="1800"/>
              <a:buChar char="•"/>
              <a:defRPr sz="1800">
                <a:solidFill>
                  <a:srgbClr val="666666"/>
                </a:solidFill>
              </a:defRPr>
            </a:lvl3pPr>
            <a:lvl4pPr indent="-311150" lvl="3" marL="182880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–"/>
              <a:defRPr>
                <a:solidFill>
                  <a:srgbClr val="666666"/>
                </a:solidFill>
              </a:defRPr>
            </a:lvl4pPr>
            <a:lvl5pPr indent="-311150" lvl="4" marL="228600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5pPr>
            <a:lvl6pPr indent="-311150" lvl="5" marL="274320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6pPr>
            <a:lvl7pPr indent="-311150" lvl="6" marL="320040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7pPr>
            <a:lvl8pPr indent="-311150" lvl="7" marL="365760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8pPr>
            <a:lvl9pPr indent="-311150" lvl="8" marL="4114800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»"/>
              <a:defRPr>
                <a:solidFill>
                  <a:srgbClr val="666666"/>
                </a:solidFill>
              </a:defRPr>
            </a:lvl9pPr>
          </a:lstStyle>
          <a:p/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 amt="15000"/>
          </a:blip>
          <a:srcRect b="11229" l="0" r="24919" t="0"/>
          <a:stretch/>
        </p:blipFill>
        <p:spPr>
          <a:xfrm>
            <a:off x="5802775" y="1109650"/>
            <a:ext cx="3411525" cy="403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21024" l="0" r="26112" t="14763"/>
          <a:stretch/>
        </p:blipFill>
        <p:spPr>
          <a:xfrm>
            <a:off x="6202175" y="4680900"/>
            <a:ext cx="2946627" cy="445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3"/>
          <p:cNvCxnSpPr/>
          <p:nvPr/>
        </p:nvCxnSpPr>
        <p:spPr>
          <a:xfrm>
            <a:off x="850" y="4674750"/>
            <a:ext cx="9129900" cy="7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bg>
      <p:bgPr>
        <a:solidFill>
          <a:srgbClr val="8AA357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7958503" y="4910138"/>
            <a:ext cx="12558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8AA357"/>
          </a:solidFill>
          <a:ln cap="flat" cmpd="sng" w="9525">
            <a:solidFill>
              <a:srgbClr val="8AA3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b="21024" l="0" r="26112" t="14763"/>
          <a:stretch/>
        </p:blipFill>
        <p:spPr>
          <a:xfrm>
            <a:off x="6202175" y="4680900"/>
            <a:ext cx="2946627" cy="4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27452" r="0" t="20842"/>
          <a:stretch/>
        </p:blipFill>
        <p:spPr>
          <a:xfrm>
            <a:off x="0" y="0"/>
            <a:ext cx="3118475" cy="340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33;p4"/>
          <p:cNvCxnSpPr/>
          <p:nvPr/>
        </p:nvCxnSpPr>
        <p:spPr>
          <a:xfrm>
            <a:off x="850" y="4674750"/>
            <a:ext cx="9129900" cy="7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 1">
  <p:cSld name="TITLE_ONLY_1">
    <p:bg>
      <p:bgPr>
        <a:solidFill>
          <a:srgbClr val="B7B7B7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7958503" y="4910138"/>
            <a:ext cx="12558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5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8AA357"/>
          </a:solidFill>
          <a:ln cap="flat" cmpd="sng" w="9525">
            <a:solidFill>
              <a:srgbClr val="8AA3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2">
            <a:alphaModFix/>
          </a:blip>
          <a:srcRect b="21024" l="0" r="26112" t="14763"/>
          <a:stretch/>
        </p:blipFill>
        <p:spPr>
          <a:xfrm>
            <a:off x="6202175" y="4680900"/>
            <a:ext cx="2946627" cy="4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 b="0" l="27452" r="0" t="20842"/>
          <a:stretch/>
        </p:blipFill>
        <p:spPr>
          <a:xfrm>
            <a:off x="0" y="0"/>
            <a:ext cx="3118475" cy="340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5"/>
          <p:cNvCxnSpPr/>
          <p:nvPr/>
        </p:nvCxnSpPr>
        <p:spPr>
          <a:xfrm flipH="1" rot="10800000">
            <a:off x="850" y="4682425"/>
            <a:ext cx="9129900" cy="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l">
  <p:cSld name="CUSTOM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144675" y="202225"/>
            <a:ext cx="8458200" cy="4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7D94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D944E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76200" y="682228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rgbClr val="7D944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spcBef>
                <a:spcPts val="480"/>
              </a:spcBef>
              <a:spcAft>
                <a:spcPts val="0"/>
              </a:spcAft>
              <a:buClr>
                <a:srgbClr val="7D944E"/>
              </a:buClr>
              <a:buSzPts val="1400"/>
              <a:buFont typeface="Arial"/>
              <a:buChar char="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/>
          <p:nvPr/>
        </p:nvSpPr>
        <p:spPr>
          <a:xfrm>
            <a:off x="0" y="4663450"/>
            <a:ext cx="9148800" cy="480000"/>
          </a:xfrm>
          <a:prstGeom prst="rect">
            <a:avLst/>
          </a:prstGeom>
          <a:solidFill>
            <a:srgbClr val="8AA357"/>
          </a:solidFill>
          <a:ln cap="flat" cmpd="sng" w="9525">
            <a:solidFill>
              <a:srgbClr val="8AA3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21024" l="0" r="26112" t="14763"/>
          <a:stretch/>
        </p:blipFill>
        <p:spPr>
          <a:xfrm>
            <a:off x="6202175" y="4680900"/>
            <a:ext cx="2946627" cy="445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" name="Google Shape;46;p6"/>
          <p:cNvCxnSpPr/>
          <p:nvPr/>
        </p:nvCxnSpPr>
        <p:spPr>
          <a:xfrm>
            <a:off x="850" y="4674750"/>
            <a:ext cx="9129900" cy="7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OBJECT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115538"/>
            <a:ext cx="7127100" cy="593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5DA3"/>
              </a:solidFill>
            </a:endParaRPr>
          </a:p>
        </p:txBody>
      </p:sp>
      <p:sp>
        <p:nvSpPr>
          <p:cNvPr id="49" name="Google Shape;49;p7"/>
          <p:cNvSpPr txBox="1"/>
          <p:nvPr>
            <p:ph type="title"/>
          </p:nvPr>
        </p:nvSpPr>
        <p:spPr>
          <a:xfrm>
            <a:off x="457200" y="128850"/>
            <a:ext cx="6252900" cy="479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9F58"/>
              </a:buClr>
              <a:buSzPts val="2400"/>
              <a:buNone/>
              <a:defRPr sz="2400">
                <a:solidFill>
                  <a:srgbClr val="C19F58"/>
                </a:solidFill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4683919"/>
            <a:ext cx="2133600" cy="35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09949" y="128859"/>
            <a:ext cx="1752004" cy="4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622700" y="879206"/>
            <a:ext cx="3818700" cy="36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560"/>
              </a:spcBef>
              <a:spcAft>
                <a:spcPts val="0"/>
              </a:spcAft>
              <a:buSzPts val="2800"/>
              <a:buChar char="▪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11150" lvl="3" marL="1828800">
              <a:spcBef>
                <a:spcPts val="400"/>
              </a:spcBef>
              <a:spcAft>
                <a:spcPts val="0"/>
              </a:spcAft>
              <a:buSzPts val="1300"/>
              <a:buChar char="–"/>
              <a:defRPr/>
            </a:lvl4pPr>
            <a:lvl5pPr indent="-311150" lvl="4" marL="2286000">
              <a:spcBef>
                <a:spcPts val="400"/>
              </a:spcBef>
              <a:spcAft>
                <a:spcPts val="0"/>
              </a:spcAft>
              <a:buSzPts val="1300"/>
              <a:buChar char="»"/>
              <a:defRPr/>
            </a:lvl5pPr>
            <a:lvl6pPr indent="-311150" lvl="5" marL="2743200">
              <a:spcBef>
                <a:spcPts val="400"/>
              </a:spcBef>
              <a:spcAft>
                <a:spcPts val="0"/>
              </a:spcAft>
              <a:buSzPts val="1300"/>
              <a:buChar char="»"/>
              <a:defRPr/>
            </a:lvl6pPr>
            <a:lvl7pPr indent="-311150" lvl="6" marL="3200400">
              <a:spcBef>
                <a:spcPts val="400"/>
              </a:spcBef>
              <a:spcAft>
                <a:spcPts val="0"/>
              </a:spcAft>
              <a:buSzPts val="1300"/>
              <a:buChar char="»"/>
              <a:defRPr/>
            </a:lvl7pPr>
            <a:lvl8pPr indent="-311150" lvl="7" marL="3657600">
              <a:spcBef>
                <a:spcPts val="400"/>
              </a:spcBef>
              <a:spcAft>
                <a:spcPts val="0"/>
              </a:spcAft>
              <a:buSzPts val="1300"/>
              <a:buChar char="»"/>
              <a:defRPr/>
            </a:lvl8pPr>
            <a:lvl9pPr indent="-311150" lvl="8" marL="4114800">
              <a:spcBef>
                <a:spcPts val="400"/>
              </a:spcBef>
              <a:spcAft>
                <a:spcPts val="0"/>
              </a:spcAft>
              <a:buSzPts val="1300"/>
              <a:buChar char="»"/>
              <a:defRPr/>
            </a:lvl9pPr>
          </a:lstStyle>
          <a:p/>
        </p:txBody>
      </p:sp>
      <p:sp>
        <p:nvSpPr>
          <p:cNvPr id="53" name="Google Shape;53;p7"/>
          <p:cNvSpPr/>
          <p:nvPr>
            <p:ph idx="2" type="pic"/>
          </p:nvPr>
        </p:nvSpPr>
        <p:spPr>
          <a:xfrm>
            <a:off x="4924975" y="879206"/>
            <a:ext cx="3907500" cy="351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52400" y="229625"/>
            <a:ext cx="8458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2400"/>
              <a:buNone/>
              <a:defRPr sz="2400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b="1" i="0" sz="3200" u="none" cap="none" strike="noStrik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b="1" i="0" sz="3200" u="none" cap="none" strike="noStrik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b="1" i="0" sz="3200" u="none" cap="none" strike="noStrik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b="1" i="0" sz="3200" u="none" cap="none" strike="noStrik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b="1" i="0" sz="3200" u="none" cap="none" strike="noStrik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b="1" i="0" sz="3200" u="none" cap="none" strike="noStrik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b="1" i="0" sz="3200" u="none" cap="none" strike="noStrik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Clr>
                <a:srgbClr val="7D944E"/>
              </a:buClr>
              <a:buSzPts val="1400"/>
              <a:buNone/>
              <a:defRPr b="1" i="0" sz="3200" u="none" cap="none" strike="noStrike">
                <a:solidFill>
                  <a:srgbClr val="7D944E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52400" y="885228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400"/>
              <a:buFont typeface="Noto Sans Symbols"/>
              <a:buChar char="▪"/>
              <a:defRPr sz="2400">
                <a:solidFill>
                  <a:srgbClr val="7D944E"/>
                </a:solidFill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7D944E"/>
              </a:buClr>
              <a:buSzPts val="2000"/>
              <a:buFont typeface="Arial"/>
              <a:buChar char="–"/>
              <a:defRPr sz="2000">
                <a:solidFill>
                  <a:srgbClr val="666666"/>
                </a:solidFill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D944E"/>
              </a:buClr>
              <a:buSzPts val="1800"/>
              <a:buFont typeface="Arial"/>
              <a:buChar char="•"/>
              <a:defRPr sz="1800">
                <a:solidFill>
                  <a:srgbClr val="666666"/>
                </a:solidFill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553200" y="4683919"/>
            <a:ext cx="2133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mywebsitehooray.com:8080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ctrTitle"/>
          </p:nvPr>
        </p:nvSpPr>
        <p:spPr>
          <a:xfrm>
            <a:off x="4057650" y="981925"/>
            <a:ext cx="5086500" cy="11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aplicaciones web</a:t>
            </a:r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4057650" y="2084425"/>
            <a:ext cx="4921800" cy="7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IF4101 Lenguajes para aplicaciones comerciales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MSI. Álvaro Mena Monge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I-2026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66" name="Google Shape;66;p9"/>
          <p:cNvSpPr txBox="1"/>
          <p:nvPr>
            <p:ph idx="4294967295" type="body"/>
          </p:nvPr>
        </p:nvSpPr>
        <p:spPr>
          <a:xfrm>
            <a:off x="398350" y="853128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59336"/>
              </a:buClr>
              <a:buSzPts val="2400"/>
              <a:buFont typeface="Noto Sans Symbols"/>
              <a:buChar char="▪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internet versus World Wide Web</a:t>
            </a:r>
            <a:endParaRPr sz="1600"/>
          </a:p>
          <a:p>
            <a:pPr indent="-2921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759336"/>
              </a:buClr>
              <a:buSzPts val="2400"/>
              <a:buFont typeface="Noto Sans Symbols"/>
              <a:buChar char="▪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aplicaciones web</a:t>
            </a:r>
            <a:endParaRPr sz="1600"/>
          </a:p>
          <a:p>
            <a:pPr indent="-2921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759336"/>
              </a:buClr>
              <a:buSzPts val="2400"/>
              <a:buFont typeface="Noto Sans Symbols"/>
              <a:buChar char="▪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759336"/>
              </a:buClr>
              <a:buSzPts val="2400"/>
              <a:buFont typeface="Noto Sans Symbols"/>
              <a:buChar char="▪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Server Pages (JSP)</a:t>
            </a:r>
            <a:endParaRPr sz="1600"/>
          </a:p>
          <a:p>
            <a:pPr indent="-292100" lvl="2" marL="342900" marR="0" rtl="0" algn="l">
              <a:spcBef>
                <a:spcPts val="640"/>
              </a:spcBef>
              <a:spcAft>
                <a:spcPts val="0"/>
              </a:spcAft>
              <a:buClr>
                <a:srgbClr val="759336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Scriptlets y expresiones</a:t>
            </a:r>
            <a:endParaRPr sz="1000"/>
          </a:p>
          <a:p>
            <a:pPr indent="-292100" lvl="2" marL="342900" marR="0" rtl="0" algn="l">
              <a:spcBef>
                <a:spcPts val="640"/>
              </a:spcBef>
              <a:spcAft>
                <a:spcPts val="0"/>
              </a:spcAft>
              <a:buClr>
                <a:srgbClr val="759336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Formularios HTML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Aplicaciones web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internet versus World Wide Web (1)</a:t>
            </a:r>
            <a:endParaRPr/>
          </a:p>
        </p:txBody>
      </p:sp>
      <p:sp>
        <p:nvSpPr>
          <p:cNvPr id="78" name="Google Shape;78;p11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▪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internet involucra la comunicación entre varias computadoras</a:t>
            </a:r>
            <a:endParaRPr sz="1900"/>
          </a:p>
          <a:p>
            <a:pPr indent="-31115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▪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comunicación es posible gracias al protocolo llamado TCP/IP</a:t>
            </a:r>
            <a:endParaRPr sz="1900"/>
          </a:p>
          <a:p>
            <a:pPr indent="-25400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Protocol (IP) es un mecanismo 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mediante el cual 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computadoras se identifican y se envían mensajes. Cada computadora tiene una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dirección IP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/>
          </a:p>
          <a:p>
            <a:pPr indent="-25400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Transmission Control Protocol (TCP) verifica que los paquetes lleguen íntegros y en el orden correcto.</a:t>
            </a:r>
            <a:endParaRPr sz="1500"/>
          </a:p>
          <a:p>
            <a:pPr indent="-1333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k:@MSITStore:C:\Users\Alvaro%20Mena\Dropbox\LPAC\2013\Libros\nuevos\SECURITY\authentication\Prentice_Hall_Core_Web_Application_Development_with_PHP_and_MySQL.chm::/0131867164/images/13fig01.jpg" id="79" name="Google Shape;79;p11"/>
          <p:cNvSpPr/>
          <p:nvPr/>
        </p:nvSpPr>
        <p:spPr>
          <a:xfrm>
            <a:off x="143608" y="-359569"/>
            <a:ext cx="4396154" cy="750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mk:@MSITStore:C:\Users\Alvaro%20Mena\Dropbox\LPAC\2013\Libros\nuevos\SECURITY\authentication\Prentice_Hall_Core_Web_Application_Development_with_PHP_and_MySQL.chm::/0131867164/images/13fig01.jpg" id="80" name="Google Shape;80;p11"/>
          <p:cNvSpPr/>
          <p:nvPr/>
        </p:nvSpPr>
        <p:spPr>
          <a:xfrm>
            <a:off x="4572000" y="-651272"/>
            <a:ext cx="4396154" cy="750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rice la imagen" id="81" name="Google Shape;81;p11"/>
          <p:cNvPicPr preferRelativeResize="0"/>
          <p:nvPr/>
        </p:nvPicPr>
        <p:blipFill rotWithShape="1">
          <a:blip r:embed="rId3">
            <a:alphaModFix/>
          </a:blip>
          <a:srcRect b="29215" l="0" r="0" t="34362"/>
          <a:stretch/>
        </p:blipFill>
        <p:spPr>
          <a:xfrm>
            <a:off x="5036400" y="3274850"/>
            <a:ext cx="3216275" cy="1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7" name="Google Shape;87;p12"/>
          <p:cNvSpPr txBox="1"/>
          <p:nvPr>
            <p:ph idx="4294967295" type="body"/>
          </p:nvPr>
        </p:nvSpPr>
        <p:spPr>
          <a:xfrm>
            <a:off x="457200" y="928753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Muchos protocolos que proveen más funcionalidades se construyen sobre el TCP, por ejemplo el HTTP.</a:t>
            </a:r>
            <a:endParaRPr sz="2000"/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b="0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HyperText Transfer Protocol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(HTTP): protocolo a nivel de aplicación que permite a los usuarios hacer solicitudes de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servidores remotos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protocolo de aplicación  “</a:t>
            </a:r>
            <a:r>
              <a:rPr b="0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cliente-servidor”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k:@MSITStore:C:\Users\Alvaro%20Mena\Dropbox\LPAC\2013\Libros\nuevos\SECURITY\authentication\Prentice_Hall_Core_Web_Application_Development_with_PHP_and_MySQL.chm::/0131867164/images/13fig01.jpg" id="88" name="Google Shape;88;p12"/>
          <p:cNvSpPr/>
          <p:nvPr/>
        </p:nvSpPr>
        <p:spPr>
          <a:xfrm>
            <a:off x="4572000" y="-651272"/>
            <a:ext cx="4396154" cy="750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internet versus World Wide Web (2)</a:t>
            </a:r>
            <a:endParaRPr/>
          </a:p>
        </p:txBody>
      </p:sp>
      <p:pic>
        <p:nvPicPr>
          <p:cNvPr id="90" name="Google Shape;9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410538"/>
            <a:ext cx="7858600" cy="2043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internet versus World Wide Web (</a:t>
            </a:r>
            <a:r>
              <a:rPr lang="en-US"/>
              <a:t>3</a:t>
            </a:r>
            <a:r>
              <a:rPr lang="en-US"/>
              <a:t>)</a:t>
            </a:r>
            <a:endParaRPr/>
          </a:p>
        </p:txBody>
      </p:sp>
      <p:sp>
        <p:nvSpPr>
          <p:cNvPr id="96" name="Google Shape;96;p13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introduce un concepto clave sobre la dirección IP: el puerto. </a:t>
            </a:r>
            <a:endParaRPr sz="2100"/>
          </a:p>
          <a:p>
            <a:pPr indent="-26670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puerto permite  a las computadoras exponer servicios a través de la red.</a:t>
            </a:r>
            <a:endParaRPr sz="1700"/>
          </a:p>
          <a:p>
            <a:pPr indent="-26670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máquina que expone los servicios tiene programas que escuchan el tráfico conocidos como “daemons”.</a:t>
            </a:r>
            <a:endParaRPr sz="1700"/>
          </a:p>
          <a:p>
            <a:pPr indent="-26670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tráfico para el servicio WWW ocurre en el puerto 8080</a:t>
            </a:r>
            <a:endParaRPr sz="1700"/>
          </a:p>
          <a:p>
            <a:pPr indent="-26670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http://www.mywebsitehooray.com:8080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k:@MSITStore:C:\Users\Alvaro%20Mena\Dropbox\LPAC\2013\Libros\nuevos\SECURITY\authentication\Prentice_Hall_Core_Web_Application_Development_with_PHP_and_MySQL.chm::/0131867164/images/13fig01.jpg" id="97" name="Google Shape;97;p13"/>
          <p:cNvSpPr/>
          <p:nvPr/>
        </p:nvSpPr>
        <p:spPr>
          <a:xfrm>
            <a:off x="4572000" y="-651272"/>
            <a:ext cx="4396154" cy="750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</a:t>
            </a:r>
            <a:endParaRPr/>
          </a:p>
        </p:txBody>
      </p:sp>
      <p:sp>
        <p:nvSpPr>
          <p:cNvPr id="103" name="Google Shape;103;p14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Explique ¿por qué el protocolo HTTP se dice que es “stateless” y “pull based”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aplicaciones web</a:t>
            </a:r>
            <a:endParaRPr/>
          </a:p>
        </p:txBody>
      </p:sp>
      <p:sp>
        <p:nvSpPr>
          <p:cNvPr id="109" name="Google Shape;109;p15"/>
          <p:cNvSpPr txBox="1"/>
          <p:nvPr>
            <p:ph idx="4294967295" type="body"/>
          </p:nvPr>
        </p:nvSpPr>
        <p:spPr>
          <a:xfrm>
            <a:off x="457200" y="1063225"/>
            <a:ext cx="8229600" cy="29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web: </a:t>
            </a:r>
            <a:endParaRPr sz="1800"/>
          </a:p>
          <a:p>
            <a:pPr indent="-2476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basada en una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cliente-servidor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 un navegador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su programa cliente. </a:t>
            </a:r>
            <a:endParaRPr sz="1400"/>
          </a:p>
          <a:p>
            <a:pPr indent="-2476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Ofrece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servicios interactivos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través de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servidores web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distribuidos sobre el internet o en una intranet.</a:t>
            </a:r>
            <a:endParaRPr sz="1400"/>
          </a:p>
          <a:p>
            <a:pPr indent="-2476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contenido dinámico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la medida basado en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solicitud,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comportamiento registrado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los usuarios y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consideraciones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seguridad.</a:t>
            </a:r>
            <a:endParaRPr sz="1400"/>
          </a:p>
          <a:p>
            <a:pPr indent="-228600" lvl="4" marL="2057400" marR="0" rt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	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Shklar &amp; Rosen (2009, pág. 4)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aplicaciones web</a:t>
            </a:r>
            <a:endParaRPr/>
          </a:p>
        </p:txBody>
      </p:sp>
      <p:pic>
        <p:nvPicPr>
          <p:cNvPr descr="Beautify this slide" id="115" name="Google Shape;115;p16"/>
          <p:cNvPicPr preferRelativeResize="0"/>
          <p:nvPr/>
        </p:nvPicPr>
        <p:blipFill rotWithShape="1">
          <a:blip r:embed="rId3">
            <a:alphaModFix/>
          </a:blip>
          <a:srcRect b="10092" l="0" r="0" t="15970"/>
          <a:stretch/>
        </p:blipFill>
        <p:spPr>
          <a:xfrm>
            <a:off x="-35700" y="821125"/>
            <a:ext cx="9210675" cy="38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aplicaciones web</a:t>
            </a:r>
            <a:endParaRPr/>
          </a:p>
        </p:txBody>
      </p:sp>
      <p:sp>
        <p:nvSpPr>
          <p:cNvPr id="121" name="Google Shape;121;p17"/>
          <p:cNvSpPr txBox="1"/>
          <p:nvPr>
            <p:ph idx="4294967295" type="body"/>
          </p:nvPr>
        </p:nvSpPr>
        <p:spPr>
          <a:xfrm>
            <a:off x="252925" y="1063225"/>
            <a:ext cx="84339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Según Stefano et al. (2003, pág. 3), son sistemas complejos basados en una variedad de </a:t>
            </a:r>
            <a:r>
              <a:rPr b="1" i="1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de hardware y software, protocolos, lenguajes, interfaces y estándares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/>
          </a:p>
          <a:p>
            <a:pPr indent="-26670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involucradas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HTML, HTTP, XML, JavaScript, componentes web, SQL, lenguajes de programación, entre otros</a:t>
            </a:r>
            <a:endParaRPr sz="1700"/>
          </a:p>
          <a:p>
            <a:pPr indent="-26670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de software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servidor web (Apache Tomcat, IIS), aplicación cliente (Mozilla, Opera), motores de bases de datos, entre otros</a:t>
            </a:r>
            <a:endParaRPr sz="1700"/>
          </a:p>
          <a:p>
            <a:pPr indent="-26670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aplicación web está instalada en un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 web 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es accesada a través de la red de Internet vía un navegador  (</a:t>
            </a: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cliente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700"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3429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aplicaciones web</a:t>
            </a:r>
            <a:endParaRPr/>
          </a:p>
        </p:txBody>
      </p:sp>
      <p:pic>
        <p:nvPicPr>
          <p:cNvPr descr="Modernice el flujo de una aplicación web. Mantenga el fondo blanco" id="127" name="Google Shape;127;p18"/>
          <p:cNvPicPr preferRelativeResize="0"/>
          <p:nvPr/>
        </p:nvPicPr>
        <p:blipFill rotWithShape="1">
          <a:blip r:embed="rId3">
            <a:alphaModFix/>
          </a:blip>
          <a:srcRect b="18359" l="46624" r="3291" t="18397"/>
          <a:stretch/>
        </p:blipFill>
        <p:spPr>
          <a:xfrm>
            <a:off x="1167875" y="794750"/>
            <a:ext cx="5230675" cy="36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aplicaciones web</a:t>
            </a:r>
            <a:endParaRPr/>
          </a:p>
        </p:txBody>
      </p:sp>
      <p:sp>
        <p:nvSpPr>
          <p:cNvPr id="133" name="Google Shape;133;p19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web: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posibilitan las capacidades de extensión dinámica para un servidor web</a:t>
            </a:r>
            <a:endParaRPr sz="1800"/>
          </a:p>
          <a:p>
            <a:pPr indent="-304800" lvl="0" marL="342900" marR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Componentes Web en la plataforma Java 2</a:t>
            </a:r>
            <a:endParaRPr sz="1800"/>
          </a:p>
          <a:p>
            <a:pPr indent="-247650" lvl="1" marL="742950" marR="0" rtl="0" algn="just">
              <a:spcBef>
                <a:spcPts val="560"/>
              </a:spcBef>
              <a:spcAft>
                <a:spcPts val="0"/>
              </a:spcAft>
              <a:buClr>
                <a:srgbClr val="76923C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Java Servlets, Páginas JSP o Servicios Web</a:t>
            </a:r>
            <a:endParaRPr b="0" i="0" sz="22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742950" marR="0" rtl="0" algn="just">
              <a:spcBef>
                <a:spcPts val="560"/>
              </a:spcBef>
              <a:spcAft>
                <a:spcPts val="0"/>
              </a:spcAft>
              <a:buClr>
                <a:srgbClr val="76923C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Servlets: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ideales para aplicaciones orientadas al servicio -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ostentan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funciones de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aplicaciones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orientadas a la presentación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742950" marR="0" rtl="0" algn="just">
              <a:spcBef>
                <a:spcPts val="560"/>
              </a:spcBef>
              <a:spcAft>
                <a:spcPts val="0"/>
              </a:spcAft>
              <a:buClr>
                <a:srgbClr val="76923C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JSP: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apropiados para generar marcados de texto como HTML, WML Y XML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aplicaciones web</a:t>
            </a:r>
            <a:endParaRPr/>
          </a:p>
        </p:txBody>
      </p:sp>
      <p:sp>
        <p:nvSpPr>
          <p:cNvPr id="139" name="Google Shape;139;p20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▪"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web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componentes web y archivos de contenido web estáticos (imágenes)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▪"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web(1)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unidad desplegable y utilizable más pequeña de recursos de web</a:t>
            </a:r>
            <a:endParaRPr sz="1300"/>
          </a:p>
          <a:p>
            <a:pPr indent="-2413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Equivalente a una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 según la Especificación Java Servlet</a:t>
            </a:r>
            <a:endParaRPr sz="1300"/>
          </a:p>
          <a:p>
            <a:pPr indent="-2413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</a:pPr>
            <a:r>
              <a:rPr b="1" i="1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elementos que contiene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componentes web, recursos web, clases de utilidad server-side, clases client-side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aplicaciones web</a:t>
            </a:r>
            <a:endParaRPr/>
          </a:p>
        </p:txBody>
      </p:sp>
      <p:sp>
        <p:nvSpPr>
          <p:cNvPr id="145" name="Google Shape;145;p21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Char char="▪"/>
            </a:pPr>
            <a:r>
              <a:rPr b="1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web(2)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 ser desplegada en una estructura de archivo desempacada o empaquetada en un archivo JAR conocido como WAR(Web Archive)</a:t>
            </a:r>
            <a:endParaRPr sz="1700"/>
          </a:p>
          <a:p>
            <a:pPr indent="-3238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Char char="▪"/>
            </a:pPr>
            <a:r>
              <a:rPr b="1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Ruta de Contexto</a:t>
            </a:r>
            <a:endParaRPr sz="2100"/>
          </a:p>
          <a:p>
            <a:pPr indent="-2667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 una aplicación web en un servidor web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aplicaciones web</a:t>
            </a:r>
            <a:endParaRPr/>
          </a:p>
        </p:txBody>
      </p:sp>
      <p:sp>
        <p:nvSpPr>
          <p:cNvPr id="151" name="Google Shape;151;p22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un módulo web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404" y="1500188"/>
            <a:ext cx="2914650" cy="295036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5374821" y="622985"/>
            <a:ext cx="3622500" cy="3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Raiz del documento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directorio de alto nivel de la webapp.  Contiene las páginas JSP, clases client-side, recursos web estáticos (imágenes)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web.xml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descriptor de despliegue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librerías de etiquetas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Archivos descriptores de librerías de etiquetas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contiene clases server-side como servlets, clases de utilidad y java beans.</a:t>
            </a:r>
            <a:endParaRPr sz="1100"/>
          </a:p>
          <a:p>
            <a:pPr indent="-323850" lvl="0" marL="342900" marR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directorio que contiene los archivos JAR de librerías llamadas por las clases server-side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Servlets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Servlets</a:t>
            </a:r>
            <a:endParaRPr/>
          </a:p>
        </p:txBody>
      </p:sp>
      <p:sp>
        <p:nvSpPr>
          <p:cNvPr id="165" name="Google Shape;165;p24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“Clase en el lenguaje de programación Java que es usada para </a:t>
            </a:r>
            <a:r>
              <a:rPr b="1" i="1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extender las capacidades de servidores </a:t>
            </a: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son anfitriones de aplicaciones accesadas a través del modelo de programación request-response”   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Jendrock et al (2008)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07" y="2811773"/>
            <a:ext cx="6189784" cy="19502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/>
          <p:nvPr/>
        </p:nvSpPr>
        <p:spPr>
          <a:xfrm>
            <a:off x="6300200" y="2476775"/>
            <a:ext cx="2658600" cy="1950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</a:t>
            </a:r>
            <a:endParaRPr sz="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that provide the entry point to logic for handling a web request and return a Java </a:t>
            </a:r>
            <a:endParaRPr sz="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of the web response</a:t>
            </a:r>
            <a:endParaRPr sz="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Servlets</a:t>
            </a:r>
            <a:endParaRPr/>
          </a:p>
        </p:txBody>
      </p:sp>
      <p:sp>
        <p:nvSpPr>
          <p:cNvPr id="173" name="Google Shape;173;p25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Estos bloques de código Java corren en un servidor de aplicación web</a:t>
            </a:r>
            <a:endParaRPr sz="1500"/>
          </a:p>
          <a:p>
            <a:pPr indent="-325438" lvl="1" marL="776288" marR="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Manejan las solicitudes y respuestas HTTP.</a:t>
            </a:r>
            <a:endParaRPr sz="1100"/>
          </a:p>
          <a:p>
            <a:pPr indent="-325438" lvl="1" marL="776288" marR="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Actúan como capa intermedia entre solicitudes hechas por el browser web,  b.d. y aplicaciones http.</a:t>
            </a:r>
            <a:endParaRPr sz="1100"/>
          </a:p>
          <a:p>
            <a:pPr indent="-325438" lvl="1" marL="776288" marR="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Procesan y/o almacenan información enviada desde un formulario HTML</a:t>
            </a:r>
            <a:endParaRPr b="0" i="0" sz="1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3597" y="3429000"/>
            <a:ext cx="3912577" cy="1232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Servlets</a:t>
            </a:r>
            <a:endParaRPr/>
          </a:p>
        </p:txBody>
      </p:sp>
      <p:sp>
        <p:nvSpPr>
          <p:cNvPr id="180" name="Google Shape;180;p26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Proveen contenido dinámico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1" marL="742950" marR="0" rtl="0" algn="l">
              <a:spcBef>
                <a:spcPts val="560"/>
              </a:spcBef>
              <a:spcAft>
                <a:spcPts val="0"/>
              </a:spcAft>
              <a:buClr>
                <a:srgbClr val="76923C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Ej. Retornar los resultados devueltos por una consulta a una base de datos</a:t>
            </a:r>
            <a:endParaRPr b="0" i="0" sz="24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1" marL="742950" marR="0" rtl="0" algn="l">
              <a:spcBef>
                <a:spcPts val="560"/>
              </a:spcBef>
              <a:spcAft>
                <a:spcPts val="0"/>
              </a:spcAft>
              <a:buClr>
                <a:srgbClr val="76923C"/>
              </a:buClr>
              <a:buSzPts val="2400"/>
              <a:buFont typeface="Arial"/>
              <a:buChar char="–"/>
            </a:pPr>
            <a:r>
              <a:rPr b="1" i="1" lang="en-US" sz="24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Dichos resultados son formateados en un documento HTML el cual es enviado de </a:t>
            </a:r>
            <a:r>
              <a:rPr b="0" i="0" lang="en-US" sz="24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regreso los  clientes</a:t>
            </a:r>
            <a:endParaRPr sz="1600"/>
          </a:p>
          <a:p>
            <a:pPr indent="-350838" lvl="0" marL="376238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capaces de generar código HTML desde código Java</a:t>
            </a:r>
            <a:endParaRPr sz="2000"/>
          </a:p>
          <a:p>
            <a:pPr indent="-139700" lvl="0" marL="3429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Plantilla de un Servlet</a:t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373600" y="1592550"/>
            <a:ext cx="7104300" cy="2809200"/>
          </a:xfrm>
          <a:prstGeom prst="rect">
            <a:avLst/>
          </a:prstGeom>
          <a:solidFill>
            <a:srgbClr val="F8F8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import java.io.*;</a:t>
            </a:r>
            <a:endParaRPr sz="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public class </a:t>
            </a:r>
            <a:r>
              <a:rPr lang="en-US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ServletTemplate </a:t>
            </a:r>
            <a:r>
              <a:rPr lang="en-US" sz="11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extends</a:t>
            </a:r>
            <a:r>
              <a:rPr lang="en-US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HttpServlet {</a:t>
            </a:r>
            <a:endParaRPr sz="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public void init() throws ServletException { }</a:t>
            </a:r>
            <a:endParaRPr sz="11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public void doGet(HttpServletRequest request,</a:t>
            </a:r>
            <a:endParaRPr sz="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		   HttpServletResponse response)</a:t>
            </a:r>
            <a:endParaRPr sz="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		throws ServletException, IOException {</a:t>
            </a:r>
            <a:endParaRPr sz="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PrintWriter out = response.getWriter();</a:t>
            </a:r>
            <a:endParaRPr sz="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// Usar "out" para enviar contenido al browser</a:t>
            </a:r>
            <a:endParaRPr sz="1100">
              <a:solidFill>
                <a:srgbClr val="C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900"/>
          </a:p>
        </p:txBody>
      </p:sp>
      <p:sp>
        <p:nvSpPr>
          <p:cNvPr id="187" name="Google Shape;187;p27"/>
          <p:cNvSpPr/>
          <p:nvPr/>
        </p:nvSpPr>
        <p:spPr>
          <a:xfrm>
            <a:off x="5429250" y="803672"/>
            <a:ext cx="3582865" cy="1071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47" y="0"/>
                </a:moveTo>
                <a:close/>
                <a:lnTo>
                  <a:pt x="-10847" y="120000"/>
                </a:lnTo>
              </a:path>
              <a:path extrusionOk="0" fill="none" h="120000" w="120000">
                <a:moveTo>
                  <a:pt x="-10847" y="73699"/>
                </a:moveTo>
                <a:lnTo>
                  <a:pt x="-39370" y="193434"/>
                </a:lnTo>
              </a:path>
            </a:pathLst>
          </a:custGeom>
          <a:solidFill>
            <a:srgbClr val="EAF1D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Request contiene los datos pasados entre un cliente y el servlet como:</a:t>
            </a:r>
            <a:endParaRPr sz="11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URL solicitada, encabezados HTTP, string de consulta</a:t>
            </a:r>
            <a:endParaRPr sz="1100">
              <a:solidFill>
                <a:srgbClr val="4F61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http://[</a:t>
            </a:r>
            <a:r>
              <a:rPr i="1"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host</a:t>
            </a:r>
            <a:r>
              <a:rPr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]:[</a:t>
            </a:r>
            <a:r>
              <a:rPr i="1"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r>
              <a:rPr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][</a:t>
            </a:r>
            <a:r>
              <a:rPr i="1"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request-path</a:t>
            </a:r>
            <a:r>
              <a:rPr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]?[</a:t>
            </a:r>
            <a:r>
              <a:rPr i="1"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query-string</a:t>
            </a:r>
            <a:r>
              <a:rPr lang="en-US" sz="1100">
                <a:solidFill>
                  <a:srgbClr val="4F6128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100"/>
          </a:p>
        </p:txBody>
      </p:sp>
      <p:sp>
        <p:nvSpPr>
          <p:cNvPr id="188" name="Google Shape;188;p27"/>
          <p:cNvSpPr/>
          <p:nvPr/>
        </p:nvSpPr>
        <p:spPr>
          <a:xfrm>
            <a:off x="5758962" y="3321844"/>
            <a:ext cx="3099289" cy="69651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47" y="0"/>
                </a:moveTo>
                <a:close/>
                <a:lnTo>
                  <a:pt x="-10847" y="120000"/>
                </a:lnTo>
              </a:path>
              <a:path extrusionOk="0" fill="none" h="120000" w="120000">
                <a:moveTo>
                  <a:pt x="-10847" y="73699"/>
                </a:moveTo>
                <a:lnTo>
                  <a:pt x="-62849" y="-81133"/>
                </a:lnTo>
              </a:path>
            </a:pathLst>
          </a:custGeom>
          <a:solidFill>
            <a:srgbClr val="EAF1D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Response contiene los datos pasados entre el servidor y el cliente</a:t>
            </a:r>
            <a:endParaRPr sz="1300">
              <a:solidFill>
                <a:srgbClr val="4F61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JSP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Server Pages (JSP)</a:t>
            </a:r>
            <a:endParaRPr/>
          </a:p>
        </p:txBody>
      </p:sp>
      <p:sp>
        <p:nvSpPr>
          <p:cNvPr id="200" name="Google Shape;200;p29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que contiene dos tipos de texto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estáticos: expresados en HTML, SVG, WML, XML</a:t>
            </a:r>
            <a:endParaRPr sz="1400"/>
          </a:p>
          <a:p>
            <a:pPr indent="-2476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Contenido dinámico: construido con elementos JSP</a:t>
            </a:r>
            <a:endParaRPr sz="1400"/>
          </a:p>
          <a:p>
            <a:pPr indent="-3048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b="1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JSP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pueden ser escritos en dos sintaxis: la estándar (scripts – scriptlets &amp; expresiones, etiquetas [JSP, JSTL, TagLib]) y XML (documentos XML)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1514425" y="3381848"/>
            <a:ext cx="6141300" cy="1225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JSP are a mechanism to combine HTML with logic written in Java. After they are compiled and deployed, JSP run as a servlet, where they also take a web request and return a Java object that is representing the response page</a:t>
            </a:r>
            <a:endParaRPr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Server Pages (JSP)</a:t>
            </a:r>
            <a:endParaRPr/>
          </a:p>
        </p:txBody>
      </p:sp>
      <p:pic>
        <p:nvPicPr>
          <p:cNvPr descr="modernice la figura del slide" id="207" name="Google Shape;207;p30"/>
          <p:cNvPicPr preferRelativeResize="0"/>
          <p:nvPr/>
        </p:nvPicPr>
        <p:blipFill rotWithShape="1">
          <a:blip r:embed="rId3">
            <a:alphaModFix/>
          </a:blip>
          <a:srcRect b="22592" l="9279" r="6369" t="15968"/>
          <a:stretch/>
        </p:blipFill>
        <p:spPr>
          <a:xfrm>
            <a:off x="819175" y="821125"/>
            <a:ext cx="7769724" cy="31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Scriptlets</a:t>
            </a:r>
            <a:endParaRPr/>
          </a:p>
        </p:txBody>
      </p:sp>
      <p:sp>
        <p:nvSpPr>
          <p:cNvPr id="213" name="Google Shape;213;p31"/>
          <p:cNvSpPr txBox="1"/>
          <p:nvPr>
            <p:ph idx="4294967295" type="body"/>
          </p:nvPr>
        </p:nvSpPr>
        <p:spPr>
          <a:xfrm>
            <a:off x="347925" y="844703"/>
            <a:ext cx="82296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Usado para contener cualquier fragmento de código que es válido para el lenguaje script usado en la página</a:t>
            </a:r>
            <a:endParaRPr sz="1900"/>
          </a:p>
          <a:p>
            <a:pPr indent="-3111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variables creadas dentro del scriptlet son accesibles en cualquier punto dentro la página JSP</a:t>
            </a:r>
            <a:endParaRPr sz="1900"/>
          </a:p>
          <a:p>
            <a:pPr indent="-3111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Sitaxis:</a:t>
            </a:r>
            <a:endParaRPr sz="1900"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&lt;% </a:t>
            </a:r>
            <a:r>
              <a:rPr b="0" i="1" lang="en-US" sz="2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sentencias-lenguaje-script</a:t>
            </a:r>
            <a:r>
              <a:rPr b="0" i="0" lang="en-US" sz="2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%&gt;</a:t>
            </a:r>
            <a:endParaRPr b="0" i="0" sz="2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</a:t>
            </a:r>
            <a:endParaRPr/>
          </a:p>
        </p:txBody>
      </p:sp>
      <p:sp>
        <p:nvSpPr>
          <p:cNvPr id="219" name="Google Shape;219;p32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Usado para insertar el valor de una </a:t>
            </a:r>
            <a:r>
              <a:rPr b="1" i="1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expresión de lenguaje script</a:t>
            </a: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el flujo de datos retornados al cliente</a:t>
            </a:r>
            <a:endParaRPr sz="1900"/>
          </a:p>
          <a:p>
            <a:pPr indent="-3111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▪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equivalente a System.out</a:t>
            </a:r>
            <a:endParaRPr sz="1900"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ans Symbols"/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&lt;%= expresión-lenguaje-script %&gt;</a:t>
            </a:r>
            <a:endParaRPr b="0" i="1" sz="2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/>
          <p:nvPr/>
        </p:nvSpPr>
        <p:spPr>
          <a:xfrm>
            <a:off x="3908181" y="2074069"/>
            <a:ext cx="9144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2472104" y="1693069"/>
            <a:ext cx="9144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3"/>
          <p:cNvSpPr/>
          <p:nvPr/>
        </p:nvSpPr>
        <p:spPr>
          <a:xfrm>
            <a:off x="381000" y="989408"/>
            <a:ext cx="86106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Forma Web como JSP	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 rot="-1270780">
            <a:off x="7283472" y="862785"/>
            <a:ext cx="1306555" cy="362659"/>
          </a:xfrm>
          <a:prstGeom prst="rect">
            <a:avLst/>
          </a:prstGeom>
          <a:solidFill>
            <a:srgbClr val="31859B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228" name="Google Shape;228;p33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Server Pages (JSP)</a:t>
            </a:r>
            <a:endParaRPr/>
          </a:p>
        </p:txBody>
      </p:sp>
      <p:graphicFrame>
        <p:nvGraphicFramePr>
          <p:cNvPr id="229" name="Google Shape;229;p33"/>
          <p:cNvGraphicFramePr/>
          <p:nvPr/>
        </p:nvGraphicFramePr>
        <p:xfrm>
          <a:off x="480175" y="203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{A08CFC29-6F67-4E2E-AB34-15249B1F499E}</a:tableStyleId>
              </a:tblPr>
              <a:tblGrid>
                <a:gridCol w="53424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&lt;HTML&gt;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&lt;HEAD&gt;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&lt;TITLE&gt;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Hello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&lt;/TITLE&gt;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&lt;/HEAD&gt;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&lt;BODY&gt;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&lt;% String nombre = 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request.getParameter(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"nombre"); %&gt;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&lt;H1&gt;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Hola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&lt;%=nombre%&gt;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&lt;/H1&gt;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&lt;/BODY&gt;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&lt;/HTML&gt;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F8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/>
          <p:nvPr/>
        </p:nvSpPr>
        <p:spPr>
          <a:xfrm>
            <a:off x="3908181" y="2074069"/>
            <a:ext cx="9144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4"/>
          <p:cNvSpPr/>
          <p:nvPr/>
        </p:nvSpPr>
        <p:spPr>
          <a:xfrm>
            <a:off x="2472104" y="1693069"/>
            <a:ext cx="9144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4"/>
          <p:cNvSpPr txBox="1"/>
          <p:nvPr/>
        </p:nvSpPr>
        <p:spPr>
          <a:xfrm>
            <a:off x="407377" y="259556"/>
            <a:ext cx="8229600" cy="544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5DA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7" name="Google Shape;237;p34"/>
          <p:cNvSpPr txBox="1"/>
          <p:nvPr>
            <p:ph type="title"/>
          </p:nvPr>
        </p:nvSpPr>
        <p:spPr>
          <a:xfrm>
            <a:off x="202200" y="306225"/>
            <a:ext cx="26898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Servlets: Página Dinámica como servlet</a:t>
            </a:r>
            <a:endParaRPr/>
          </a:p>
        </p:txBody>
      </p:sp>
      <p:graphicFrame>
        <p:nvGraphicFramePr>
          <p:cNvPr id="238" name="Google Shape;238;p34"/>
          <p:cNvGraphicFramePr/>
          <p:nvPr/>
        </p:nvGraphicFramePr>
        <p:xfrm>
          <a:off x="2994225" y="6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{A08CFC29-6F67-4E2E-AB34-15249B1F499E}</a:tableStyleId>
              </a:tblPr>
              <a:tblGrid>
                <a:gridCol w="58466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jakarta.servlet.ServletException;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jakarta.servlet.annotation.WebServlet;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jakarta.servlet.http.HttpServlet;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jakarta.servlet.http.HttpServletRequest;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jakarta.servlet.http.HttpServletResponse;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1" lang="en-US" sz="1000">
                          <a:solidFill>
                            <a:srgbClr val="999999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@WebServlet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(name = 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"Hello"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urlPatterns = {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"/hello"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-US" sz="1000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Hello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extends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-US" sz="1000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HttpServlet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-US" sz="1000">
                          <a:solidFill>
                            <a:srgbClr val="445588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doGet</a:t>
                      </a:r>
                      <a:r>
                        <a:rPr lang="en-US" sz="1000">
                          <a:solidFill>
                            <a:srgbClr val="0000FF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(HttpServletRequest req, HttpServletResponse res)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</a:t>
                      </a: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throws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ServletException, IOException {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res.setContentType(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"text/html"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PrintWriter out = res.getWriter();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String nombre = req.getParameter(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"nombre"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out.println(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"&lt;!DOCTYPE html&gt;"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        </a:t>
                      </a:r>
                      <a:endParaRPr sz="1000">
                        <a:highlight>
                          <a:srgbClr val="F8F8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out.println(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"&lt;html&gt;"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out.println(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"&lt;head&gt;&lt;title&gt;Hello&lt;/title&gt;&lt;/head&gt;"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out.println(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"&lt;body&gt;"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out.println(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"&lt;h1&gt;Hola 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+ (nombre != </a:t>
                      </a:r>
                      <a:r>
                        <a:rPr lang="en-US" sz="1000">
                          <a:solidFill>
                            <a:srgbClr val="95412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? nombre : 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"Invitado"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+ 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"&lt;/h1&gt;"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out.println(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"&lt;/body&gt;"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out.println(</a:t>
                      </a:r>
                      <a:r>
                        <a:rPr lang="en-US" sz="10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"&lt;/html&gt;"</a:t>
                      </a: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b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000"/>
                    </a:p>
                  </a:txBody>
                  <a:tcPr marT="63500" marB="63500" marR="63500" marL="63500">
                    <a:solidFill>
                      <a:srgbClr val="F8F8FF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954121"/>
                        </a:solidFill>
                        <a:highlight>
                          <a:srgbClr val="F8F8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F8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>
            <p:ph type="title"/>
          </p:nvPr>
        </p:nvSpPr>
        <p:spPr>
          <a:xfrm>
            <a:off x="3011100" y="2235000"/>
            <a:ext cx="54600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Actividad de aprendizaje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una aplicación web</a:t>
            </a:r>
            <a:endParaRPr/>
          </a:p>
        </p:txBody>
      </p:sp>
      <p:pic>
        <p:nvPicPr>
          <p:cNvPr descr="Robot, Postit, Note, To Do, ..." id="245" name="Google Shape;24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8" y="4023322"/>
            <a:ext cx="884100" cy="6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>
            <p:ph type="title"/>
          </p:nvPr>
        </p:nvSpPr>
        <p:spPr>
          <a:xfrm>
            <a:off x="202200" y="306225"/>
            <a:ext cx="87396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proyecto de aplicación web en </a:t>
            </a:r>
            <a:r>
              <a:rPr lang="en-US"/>
              <a:t>Visual Studio Code</a:t>
            </a:r>
            <a:endParaRPr/>
          </a:p>
        </p:txBody>
      </p:sp>
      <p:sp>
        <p:nvSpPr>
          <p:cNvPr id="251" name="Google Shape;251;p36"/>
          <p:cNvSpPr txBox="1"/>
          <p:nvPr>
            <p:ph idx="4294967295" type="body"/>
          </p:nvPr>
        </p:nvSpPr>
        <p:spPr>
          <a:xfrm>
            <a:off x="417625" y="911950"/>
            <a:ext cx="6351600" cy="29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Asegúrese de tener instaladas las siguientes extensiones (Ctrl+Shift+X)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▪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Extension Pack for Java (Microsoft)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▪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Community Server Connectors (redhat)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▪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Extension Pack for MicroProfile and Jakarta EE (MicroProfile Community)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Baje el instalador de Apache Tomcat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▪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https://tomcat.apache.org/download-11.cgi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Agregue</a:t>
            </a:r>
            <a:r>
              <a:rPr lang="en-US" sz="2000"/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servidor en sección Servers del explorador de VSCode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Observer la imagen de la derecha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0875" y="1021151"/>
            <a:ext cx="2309500" cy="379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202200" y="306225"/>
            <a:ext cx="87396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proyecto de aplicación web en </a:t>
            </a:r>
            <a:r>
              <a:rPr lang="en-US"/>
              <a:t>Visual Studio Code</a:t>
            </a:r>
            <a:endParaRPr/>
          </a:p>
        </p:txBody>
      </p:sp>
      <p:sp>
        <p:nvSpPr>
          <p:cNvPr id="258" name="Google Shape;258;p37"/>
          <p:cNvSpPr txBox="1"/>
          <p:nvPr>
            <p:ph idx="4294967295" type="body"/>
          </p:nvPr>
        </p:nvSpPr>
        <p:spPr>
          <a:xfrm>
            <a:off x="417625" y="911950"/>
            <a:ext cx="4651500" cy="29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el JDK en VS Code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▪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Siga los pasos que se observan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▪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las imágenes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150" y="598913"/>
            <a:ext cx="1820013" cy="3945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4925" y="51587"/>
            <a:ext cx="4651500" cy="2335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8328" y="1573400"/>
            <a:ext cx="4199222" cy="29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>
            <p:ph type="title"/>
          </p:nvPr>
        </p:nvSpPr>
        <p:spPr>
          <a:xfrm>
            <a:off x="202200" y="306225"/>
            <a:ext cx="87396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proyecto de aplicación web en </a:t>
            </a:r>
            <a:r>
              <a:rPr lang="en-US"/>
              <a:t>VS</a:t>
            </a:r>
            <a:r>
              <a:rPr lang="en-US"/>
              <a:t> Code</a:t>
            </a:r>
            <a:endParaRPr/>
          </a:p>
        </p:txBody>
      </p:sp>
      <p:sp>
        <p:nvSpPr>
          <p:cNvPr id="267" name="Google Shape;267;p38"/>
          <p:cNvSpPr txBox="1"/>
          <p:nvPr>
            <p:ph idx="4294967295" type="body"/>
          </p:nvPr>
        </p:nvSpPr>
        <p:spPr>
          <a:xfrm>
            <a:off x="417625" y="911950"/>
            <a:ext cx="4628700" cy="20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proyecto Jakarta EE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https://start.jakarta.ee/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Seleccionar la opción Jakarta EE 11, Platform, Java SE 21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Group: cr.ac.ucr.paraiso.lenguajes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Artifact: webapp2026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Descomprima el proyecto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Robot, Postit, Note, To Do, ..." id="268" name="Google Shape;26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8" y="4023322"/>
            <a:ext cx="884100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8725" y="1045425"/>
            <a:ext cx="3792874" cy="2810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proyecto de aplicación web en </a:t>
            </a:r>
            <a:r>
              <a:rPr lang="en-US"/>
              <a:t>VS Code</a:t>
            </a:r>
            <a:endParaRPr/>
          </a:p>
        </p:txBody>
      </p:sp>
      <p:sp>
        <p:nvSpPr>
          <p:cNvPr id="275" name="Google Shape;275;p39"/>
          <p:cNvSpPr txBox="1"/>
          <p:nvPr>
            <p:ph idx="4294967295" type="body"/>
          </p:nvPr>
        </p:nvSpPr>
        <p:spPr>
          <a:xfrm>
            <a:off x="1011025" y="911950"/>
            <a:ext cx="7883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AutoNum type="arabicPeriod" startAt="2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Abra el proyecto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WebApp2026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VSCode: File/Open Folder</a:t>
            </a:r>
            <a:endParaRPr sz="2000"/>
          </a:p>
        </p:txBody>
      </p:sp>
      <p:pic>
        <p:nvPicPr>
          <p:cNvPr descr="Robot, Postit, Note, To Do, ..." id="276" name="Google Shape;27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8" y="4023322"/>
            <a:ext cx="884100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4674" y="1391950"/>
            <a:ext cx="5501551" cy="313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proyecto de aplicación web en </a:t>
            </a:r>
            <a:r>
              <a:rPr lang="en-US"/>
              <a:t>VS Code</a:t>
            </a:r>
            <a:endParaRPr/>
          </a:p>
        </p:txBody>
      </p:sp>
      <p:sp>
        <p:nvSpPr>
          <p:cNvPr id="283" name="Google Shape;283;p40"/>
          <p:cNvSpPr txBox="1"/>
          <p:nvPr>
            <p:ph idx="4294967295" type="body"/>
          </p:nvPr>
        </p:nvSpPr>
        <p:spPr>
          <a:xfrm>
            <a:off x="394175" y="911950"/>
            <a:ext cx="33891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Corrida del proyecto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sección de Maven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Ejecute: </a:t>
            </a:r>
            <a:r>
              <a:rPr lang="en-US" sz="1600">
                <a:solidFill>
                  <a:srgbClr val="FF9429"/>
                </a:solidFill>
                <a:latin typeface="Calibri"/>
                <a:ea typeface="Calibri"/>
                <a:cs typeface="Calibri"/>
                <a:sym typeface="Calibri"/>
              </a:rPr>
              <a:t>clean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1600">
                <a:solidFill>
                  <a:srgbClr val="FF9429"/>
                </a:solidFill>
                <a:latin typeface="Calibri"/>
                <a:ea typeface="Calibri"/>
                <a:cs typeface="Calibri"/>
                <a:sym typeface="Calibri"/>
              </a:rPr>
              <a:t>package</a:t>
            </a:r>
            <a:endParaRPr sz="1600">
              <a:solidFill>
                <a:srgbClr val="FF9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sección de Servers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Ejecute: </a:t>
            </a:r>
            <a:r>
              <a:rPr lang="en-US" sz="1600">
                <a:solidFill>
                  <a:srgbClr val="FF9429"/>
                </a:solidFill>
                <a:latin typeface="Calibri"/>
                <a:ea typeface="Calibri"/>
                <a:cs typeface="Calibri"/>
                <a:sym typeface="Calibri"/>
              </a:rPr>
              <a:t>Add deployment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600">
                <a:solidFill>
                  <a:srgbClr val="FF9429"/>
                </a:solidFill>
                <a:latin typeface="Calibri"/>
                <a:ea typeface="Calibri"/>
                <a:cs typeface="Calibri"/>
                <a:sym typeface="Calibri"/>
              </a:rPr>
              <a:t>Publish  Server</a:t>
            </a:r>
            <a:endParaRPr sz="1600">
              <a:solidFill>
                <a:srgbClr val="FF9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navegador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9429"/>
                </a:solidFill>
                <a:latin typeface="Calibri"/>
                <a:ea typeface="Calibri"/>
                <a:cs typeface="Calibri"/>
                <a:sym typeface="Calibri"/>
              </a:rPr>
              <a:t>localhost:8080/webapp2026/</a:t>
            </a:r>
            <a:endParaRPr sz="1600">
              <a:solidFill>
                <a:srgbClr val="FF9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bot, Postit, Note, To Do, ..." id="284" name="Google Shape;28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8" y="4023322"/>
            <a:ext cx="884100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0088" y="848375"/>
            <a:ext cx="5293788" cy="344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proyecto de aplicación web en Netbeans</a:t>
            </a:r>
            <a:endParaRPr/>
          </a:p>
        </p:txBody>
      </p:sp>
      <p:sp>
        <p:nvSpPr>
          <p:cNvPr id="291" name="Google Shape;291;p41"/>
          <p:cNvSpPr txBox="1"/>
          <p:nvPr>
            <p:ph idx="4294967295" type="body"/>
          </p:nvPr>
        </p:nvSpPr>
        <p:spPr>
          <a:xfrm>
            <a:off x="1011025" y="911950"/>
            <a:ext cx="5076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Cambie el archivo index.html</a:t>
            </a:r>
            <a:endParaRPr sz="2000"/>
          </a:p>
        </p:txBody>
      </p:sp>
      <p:pic>
        <p:nvPicPr>
          <p:cNvPr descr="Robot, Postit, Note, To Do, ..." id="292" name="Google Shape;2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8" y="4023322"/>
            <a:ext cx="884100" cy="663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3" name="Google Shape;293;p41"/>
          <p:cNvGraphicFramePr/>
          <p:nvPr/>
        </p:nvGraphicFramePr>
        <p:xfrm>
          <a:off x="1011025" y="147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{A08CFC29-6F67-4E2E-AB34-15249B1F499E}</a:tableStyleId>
              </a:tblPr>
              <a:tblGrid>
                <a:gridCol w="5744375"/>
              </a:tblGrid>
              <a:tr h="244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999999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&lt;html&gt;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&lt;head&gt;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&lt;title&gt;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Webapps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&lt;/title&gt;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&lt;meta charset=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"UTF-8"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&lt;meta name=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"viewport"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content=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"width=device-width, initial-scale=1.0"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&lt;/head&gt;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&lt;body&gt;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&lt;h1&gt;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Aplicaciones web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&lt;/h1&gt;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&lt;h2&gt;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Lengu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jes para aplicaciones comerciales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&lt;/h2&gt;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&lt;/body&gt;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&lt;/html&gt;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F8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proyecto de aplicación web en Netbeans</a:t>
            </a:r>
            <a:endParaRPr/>
          </a:p>
        </p:txBody>
      </p:sp>
      <p:sp>
        <p:nvSpPr>
          <p:cNvPr id="299" name="Google Shape;299;p42"/>
          <p:cNvSpPr txBox="1"/>
          <p:nvPr>
            <p:ph idx="4294967295" type="body"/>
          </p:nvPr>
        </p:nvSpPr>
        <p:spPr>
          <a:xfrm>
            <a:off x="1011025" y="911950"/>
            <a:ext cx="55959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Corra el proyecto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0005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7DBA"/>
                </a:solidFill>
                <a:latin typeface="Calibri"/>
                <a:ea typeface="Calibri"/>
                <a:cs typeface="Calibri"/>
                <a:sym typeface="Calibri"/>
              </a:rPr>
              <a:t>localhost:8080/webapp2026/</a:t>
            </a:r>
            <a:endParaRPr sz="2000"/>
          </a:p>
        </p:txBody>
      </p:sp>
      <p:pic>
        <p:nvPicPr>
          <p:cNvPr descr="Robot, Postit, Note, To Do, ..." id="300" name="Google Shape;30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8" y="4023322"/>
            <a:ext cx="884100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2975" y="1668950"/>
            <a:ext cx="4044050" cy="18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/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Servlet-JSP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Servlet que le pasa información a un JSP</a:t>
            </a:r>
            <a:endParaRPr/>
          </a:p>
        </p:txBody>
      </p:sp>
      <p:sp>
        <p:nvSpPr>
          <p:cNvPr id="313" name="Google Shape;313;p44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Combinación Servlet-JSP</a:t>
            </a:r>
            <a:endParaRPr sz="1600"/>
          </a:p>
          <a:p>
            <a:pPr indent="-292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el valor de una variable</a:t>
            </a:r>
            <a:endParaRPr sz="1600"/>
          </a:p>
          <a:p>
            <a:pPr indent="-292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una lista de parques nacionales de costa Rica</a:t>
            </a:r>
            <a:endParaRPr sz="1600"/>
          </a:p>
          <a:p>
            <a:pPr indent="-292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Agregar una tabla que contenga hipervínculos que llame otro JSP (ver_parque.jsp) Combinación JSP-JSP</a:t>
            </a:r>
            <a:endParaRPr sz="1600"/>
          </a:p>
          <a:p>
            <a:pPr indent="-292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la página ver_parque.jsp (Capturar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parámetros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recibidos)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4" name="Google Shape;314;p44"/>
          <p:cNvGraphicFramePr/>
          <p:nvPr/>
        </p:nvGraphicFramePr>
        <p:xfrm>
          <a:off x="1366193" y="34769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{A4DAECE8-6C76-4B44-BC96-D9B85F50494A}</a:tableStyleId>
              </a:tblPr>
              <a:tblGrid>
                <a:gridCol w="3847450"/>
                <a:gridCol w="2926175"/>
              </a:tblGrid>
              <a:tr h="27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Servlet</a:t>
                      </a:r>
                      <a:endParaRPr sz="1400"/>
                    </a:p>
                  </a:txBody>
                  <a:tcPr marT="34325" marB="34325" marR="84425" marL="84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JSP</a:t>
                      </a:r>
                      <a:endParaRPr sz="1100"/>
                    </a:p>
                  </a:txBody>
                  <a:tcPr marT="34325" marB="34325" marR="84425" marL="84425"/>
                </a:tc>
              </a:tr>
              <a:tr h="48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VerParquesNacionalesServlet.java</a:t>
                      </a:r>
                      <a:endParaRPr sz="1100"/>
                    </a:p>
                  </a:txBody>
                  <a:tcPr marT="34325" marB="34325" marR="84425" marL="84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ver_parques_nacionales.jsp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ver_parque.jsp</a:t>
                      </a:r>
                      <a:endParaRPr sz="1100"/>
                    </a:p>
                  </a:txBody>
                  <a:tcPr marT="34325" marB="34325" marR="84425" marL="84425"/>
                </a:tc>
              </a:tr>
            </a:tbl>
          </a:graphicData>
        </a:graphic>
      </p:graphicFrame>
      <p:pic>
        <p:nvPicPr>
          <p:cNvPr descr="Robot, Postit, Note, To Do, ..." id="315" name="Google Shape;3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8" y="4023322"/>
            <a:ext cx="884101" cy="6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Interfaces </a:t>
            </a:r>
            <a:r>
              <a:rPr lang="en-US"/>
              <a:t>por</a:t>
            </a:r>
            <a:r>
              <a:rPr lang="en-US"/>
              <a:t> desarrollar</a:t>
            </a:r>
            <a:endParaRPr/>
          </a:p>
        </p:txBody>
      </p:sp>
      <p:grpSp>
        <p:nvGrpSpPr>
          <p:cNvPr id="321" name="Google Shape;321;p45"/>
          <p:cNvGrpSpPr/>
          <p:nvPr/>
        </p:nvGrpSpPr>
        <p:grpSpPr>
          <a:xfrm>
            <a:off x="1046288" y="1353741"/>
            <a:ext cx="7746020" cy="2396619"/>
            <a:chOff x="452410" y="1857364"/>
            <a:chExt cx="8391560" cy="3195929"/>
          </a:xfrm>
        </p:grpSpPr>
        <p:grpSp>
          <p:nvGrpSpPr>
            <p:cNvPr id="322" name="Google Shape;322;p45"/>
            <p:cNvGrpSpPr/>
            <p:nvPr/>
          </p:nvGrpSpPr>
          <p:grpSpPr>
            <a:xfrm>
              <a:off x="523844" y="1857364"/>
              <a:ext cx="8320125" cy="2847975"/>
              <a:chOff x="523844" y="1857364"/>
              <a:chExt cx="8320125" cy="2847975"/>
            </a:xfrm>
          </p:grpSpPr>
          <p:pic>
            <p:nvPicPr>
              <p:cNvPr id="323" name="Google Shape;323;p4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23844" y="1857364"/>
                <a:ext cx="4429125" cy="2847975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lgDash"/>
                <a:miter lim="8000"/>
                <a:headEnd len="sm" w="sm" type="none"/>
                <a:tailEnd len="sm" w="sm" type="none"/>
              </a:ln>
            </p:spPr>
          </p:pic>
          <p:pic>
            <p:nvPicPr>
              <p:cNvPr id="324" name="Google Shape;324;p4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881694" y="3143248"/>
                <a:ext cx="2962275" cy="333375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</p:pic>
          <p:sp>
            <p:nvSpPr>
              <p:cNvPr id="325" name="Google Shape;325;p45"/>
              <p:cNvSpPr/>
              <p:nvPr/>
            </p:nvSpPr>
            <p:spPr>
              <a:xfrm>
                <a:off x="3405169" y="3403800"/>
                <a:ext cx="2728925" cy="725586"/>
              </a:xfrm>
              <a:custGeom>
                <a:rect b="b" l="l" r="r" t="t"/>
                <a:pathLst>
                  <a:path extrusionOk="0" h="120000" w="120000">
                    <a:moveTo>
                      <a:pt x="0" y="104854"/>
                    </a:moveTo>
                    <a:cubicBezTo>
                      <a:pt x="17525" y="112427"/>
                      <a:pt x="35051" y="120000"/>
                      <a:pt x="55051" y="102524"/>
                    </a:cubicBezTo>
                    <a:cubicBezTo>
                      <a:pt x="75051" y="85048"/>
                      <a:pt x="120000" y="0"/>
                      <a:pt x="120000" y="0"/>
                    </a:cubicBezTo>
                    <a:lnTo>
                      <a:pt x="120000" y="0"/>
                    </a:lnTo>
                  </a:path>
                </a:pathLst>
              </a:custGeom>
              <a:noFill/>
              <a:ln cap="flat" cmpd="sng" w="9525">
                <a:solidFill>
                  <a:srgbClr val="BD4B4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45"/>
              <p:cNvSpPr txBox="1"/>
              <p:nvPr/>
            </p:nvSpPr>
            <p:spPr>
              <a:xfrm>
                <a:off x="5167314" y="3857628"/>
                <a:ext cx="364875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Al hacer clic en el hipervínculo</a:t>
                </a:r>
                <a:endParaRPr/>
              </a:p>
            </p:txBody>
          </p:sp>
        </p:grpSp>
        <p:sp>
          <p:nvSpPr>
            <p:cNvPr id="327" name="Google Shape;327;p45"/>
            <p:cNvSpPr txBox="1"/>
            <p:nvPr/>
          </p:nvSpPr>
          <p:spPr>
            <a:xfrm>
              <a:off x="452410" y="4714894"/>
              <a:ext cx="2962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ver_parques_nacionales.jsp</a:t>
              </a:r>
              <a:endParaRPr/>
            </a:p>
          </p:txBody>
        </p:sp>
        <p:sp>
          <p:nvSpPr>
            <p:cNvPr id="328" name="Google Shape;328;p45"/>
            <p:cNvSpPr/>
            <p:nvPr/>
          </p:nvSpPr>
          <p:spPr>
            <a:xfrm>
              <a:off x="6667498" y="2767124"/>
              <a:ext cx="182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ver_parque.jsp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Clases requeridas</a:t>
            </a:r>
            <a:endParaRPr/>
          </a:p>
        </p:txBody>
      </p:sp>
      <p:pic>
        <p:nvPicPr>
          <p:cNvPr id="334" name="Google Shape;3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0585" y="1339454"/>
            <a:ext cx="7631723" cy="3214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VerParquesNacionales.java</a:t>
            </a:r>
            <a:endParaRPr/>
          </a:p>
        </p:txBody>
      </p:sp>
      <p:graphicFrame>
        <p:nvGraphicFramePr>
          <p:cNvPr id="341" name="Google Shape;341;p47"/>
          <p:cNvGraphicFramePr/>
          <p:nvPr/>
        </p:nvGraphicFramePr>
        <p:xfrm>
          <a:off x="283150" y="99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{A08CFC29-6F67-4E2E-AB34-15249B1F499E}</a:tableStyleId>
              </a:tblPr>
              <a:tblGrid>
                <a:gridCol w="74408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@WebServlet(name=</a:t>
                      </a:r>
                      <a:r>
                        <a:rPr lang="en-US" sz="800">
                          <a:solidFill>
                            <a:srgbClr val="005C5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"VerParquesNacionalesServlet"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urlPatterns={</a:t>
                      </a:r>
                      <a:r>
                        <a:rPr lang="en-US" sz="800">
                          <a:solidFill>
                            <a:srgbClr val="005C5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"/verParquesNacionales"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-US" sz="800">
                          <a:solidFill>
                            <a:srgbClr val="88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VerParquesNacionalesServlet2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extends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-US" sz="800">
                          <a:solidFill>
                            <a:srgbClr val="88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HttpServlet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tituloPagina;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ParqueNacional parqueNacional;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LinkedList&lt;ParqueNacional&gt; parquesNacionales;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@Override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-US" sz="800">
                          <a:solidFill>
                            <a:srgbClr val="88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init</a:t>
                      </a:r>
                      <a: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(ServletConfig config)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throws</a:t>
                      </a:r>
                      <a: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ServletException 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super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.init(config); 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.tituloPagina = </a:t>
                      </a:r>
                      <a:r>
                        <a:rPr lang="en-US" sz="800">
                          <a:solidFill>
                            <a:srgbClr val="005C5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"Parques Nacionales de Costa Rica VERSION 2"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.parqueNacional =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ParqueNacional(</a:t>
                      </a:r>
                      <a:r>
                        <a:rPr lang="en-US" sz="800">
                          <a:solidFill>
                            <a:srgbClr val="8A7B52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800">
                          <a:solidFill>
                            <a:srgbClr val="005C5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"Tapantí"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.parquesNacionales =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LinkedList&lt;&gt;();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.parquesNacionales.add(parqueNacional);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.parquesNacionales.add(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ParqueNacional(</a:t>
                      </a:r>
                      <a:r>
                        <a:rPr lang="en-US" sz="800">
                          <a:solidFill>
                            <a:srgbClr val="8A7B52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800">
                          <a:solidFill>
                            <a:srgbClr val="005C5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"Corcovado"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@Override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protected</a:t>
                      </a:r>
                      <a: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-US" sz="800">
                          <a:solidFill>
                            <a:srgbClr val="88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doGet</a:t>
                      </a:r>
                      <a: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(HttpServletRequest request, HttpServletResponse response)</a:t>
                      </a:r>
                      <a:b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throws</a:t>
                      </a:r>
                      <a:r>
                        <a:rPr lang="en-US" sz="800">
                          <a:solidFill>
                            <a:srgbClr val="728E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ServletException, IOException 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request.setAttribute(</a:t>
                      </a:r>
                      <a:r>
                        <a:rPr lang="en-US" sz="800">
                          <a:solidFill>
                            <a:srgbClr val="005C5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"titulo"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.tituloPagina);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request.setAttribute(</a:t>
                      </a:r>
                      <a:r>
                        <a:rPr lang="en-US" sz="800">
                          <a:solidFill>
                            <a:srgbClr val="005C5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"parqueNacional"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.parqueNacional);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request.setAttribute(</a:t>
                      </a:r>
                      <a:r>
                        <a:rPr lang="en-US" sz="800">
                          <a:solidFill>
                            <a:srgbClr val="005C5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"parquesNacionales"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800">
                          <a:solidFill>
                            <a:srgbClr val="00979D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.parquesNacionales);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request.getRequestDispatcher(</a:t>
                      </a:r>
                      <a:r>
                        <a:rPr lang="en-US" sz="800">
                          <a:solidFill>
                            <a:srgbClr val="005C5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"/ver_parques.jsp"</a:t>
                      </a: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).forward(request, response);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b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434F5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800"/>
                    </a:p>
                  </a:txBody>
                  <a:tcPr marT="63500" marB="63500" marR="63500" marL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8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Hipervínculos</a:t>
            </a:r>
            <a:endParaRPr/>
          </a:p>
        </p:txBody>
      </p:sp>
      <p:sp>
        <p:nvSpPr>
          <p:cNvPr id="347" name="Google Shape;347;p48"/>
          <p:cNvSpPr txBox="1"/>
          <p:nvPr>
            <p:ph idx="4294967295" type="body"/>
          </p:nvPr>
        </p:nvSpPr>
        <p:spPr>
          <a:xfrm>
            <a:off x="457200" y="1063227"/>
            <a:ext cx="8229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▪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Ruta URL 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construir: </a:t>
            </a:r>
            <a:endParaRPr sz="1500"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eautify this slide" id="348" name="Google Shape;348;p48"/>
          <p:cNvPicPr preferRelativeResize="0"/>
          <p:nvPr/>
        </p:nvPicPr>
        <p:blipFill rotWithShape="1">
          <a:blip r:embed="rId3">
            <a:alphaModFix/>
          </a:blip>
          <a:srcRect b="18811" l="0" r="0" t="29807"/>
          <a:stretch/>
        </p:blipFill>
        <p:spPr>
          <a:xfrm>
            <a:off x="391737" y="2085225"/>
            <a:ext cx="8077175" cy="23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verParquesNacionales.jsp</a:t>
            </a:r>
            <a:endParaRPr/>
          </a:p>
        </p:txBody>
      </p:sp>
      <p:graphicFrame>
        <p:nvGraphicFramePr>
          <p:cNvPr id="355" name="Google Shape;355;p49"/>
          <p:cNvGraphicFramePr/>
          <p:nvPr/>
        </p:nvGraphicFramePr>
        <p:xfrm>
          <a:off x="202200" y="100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{A08CFC29-6F67-4E2E-AB34-15249B1F499E}</a:tableStyleId>
              </a:tblPr>
              <a:tblGrid>
                <a:gridCol w="84760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&lt;%@page contentType=</a:t>
                      </a:r>
                      <a:r>
                        <a:rPr lang="en-US" sz="1050">
                          <a:solidFill>
                            <a:srgbClr val="60AC39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"text/html"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pageEncoding=</a:t>
                      </a:r>
                      <a:r>
                        <a:rPr lang="en-US" sz="1050">
                          <a:solidFill>
                            <a:srgbClr val="60AC39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"UTF-8"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&lt;%@page  import=</a:t>
                      </a:r>
                      <a:r>
                        <a:rPr lang="en-US" sz="1050">
                          <a:solidFill>
                            <a:srgbClr val="60AC39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"java.util.LinkedList"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&lt;%@page  import=</a:t>
                      </a:r>
                      <a:r>
                        <a:rPr lang="en-US" sz="1050">
                          <a:solidFill>
                            <a:srgbClr val="60AC39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"cr.ac.ucr.paraiso.lenguajes.webapp.domain.ParqueNacional"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B65611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&lt;html&gt;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&lt;head&gt;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&lt;meta http-equiv=</a:t>
                      </a:r>
                      <a:r>
                        <a:rPr lang="en-US" sz="1050">
                          <a:solidFill>
                            <a:srgbClr val="60AC39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"Content-Type"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content=</a:t>
                      </a:r>
                      <a:r>
                        <a:rPr lang="en-US" sz="1050">
                          <a:solidFill>
                            <a:srgbClr val="60AC39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"text/html; charset=UTF-8"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&lt;title&gt;</a:t>
                      </a: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${tituloPagina}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&lt;/title&gt;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&lt;/head&gt;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&lt;body&gt;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&lt;h1&gt;</a:t>
                      </a: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${tituloPagina}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&lt;/h1&gt;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</a:t>
                      </a: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Ejemplo de parque nacional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</a:t>
                      </a: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Identificación: ${parqueNacional.idParque}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</a:t>
                      </a: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Nombre: ${parqueNacional.nombre}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endParaRPr sz="105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FEFB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0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verParquesNacionales.jsp</a:t>
            </a:r>
            <a:endParaRPr/>
          </a:p>
        </p:txBody>
      </p:sp>
      <p:graphicFrame>
        <p:nvGraphicFramePr>
          <p:cNvPr id="362" name="Google Shape;362;p50"/>
          <p:cNvGraphicFramePr/>
          <p:nvPr/>
        </p:nvGraphicFramePr>
        <p:xfrm>
          <a:off x="202200" y="100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{A08CFC29-6F67-4E2E-AB34-15249B1F499E}</a:tableStyleId>
              </a:tblPr>
              <a:tblGrid>
                <a:gridCol w="87920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&lt;table style=</a:t>
                      </a:r>
                      <a:r>
                        <a:rPr lang="en-US" sz="1050">
                          <a:solidFill>
                            <a:srgbClr val="60AC39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"border: 5px solid"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&lt;tr&gt;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&lt;th&gt;</a:t>
                      </a: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Identificación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&lt;/th&gt;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&lt;th&gt;</a:t>
                      </a: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&lt;/th&gt;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&lt;/tr&gt;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&lt;% for(ParqueNacional parqueActual:parques){ %&gt;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&lt;tr&gt;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&lt;td&gt;&lt;a href=</a:t>
                      </a:r>
                      <a:r>
                        <a:rPr lang="en-US" sz="1050">
                          <a:solidFill>
                            <a:srgbClr val="60AC39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"./ver_parque.jsp?idParque=&lt;%= parqueActual.getIdParque() %&gt;&amp;nombre=&lt;%= parqueActual.getNombre() %&gt;"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&lt;%= parqueActual.getIdParque() %&gt;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&lt;/a&gt;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&lt;/td&gt;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&lt;td&gt;&lt;%= parqueActual.getNombre() %&gt;&lt;/td&gt;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&lt;/tr&gt;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&lt;% } // se cierra el foreach %&gt;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&lt;/table&gt;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&lt;/body&gt;</a:t>
                      </a:r>
                      <a:br>
                        <a:rPr lang="en-US" sz="1050">
                          <a:solidFill>
                            <a:srgbClr val="6E6B5E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050">
                          <a:solidFill>
                            <a:srgbClr val="D73737"/>
                          </a:solidFill>
                          <a:highlight>
                            <a:srgbClr val="FEFBE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&lt;/html&gt;</a:t>
                      </a:r>
                      <a:endParaRPr sz="105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FEFB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"/>
          <p:cNvSpPr txBox="1"/>
          <p:nvPr>
            <p:ph type="title"/>
          </p:nvPr>
        </p:nvSpPr>
        <p:spPr>
          <a:xfrm>
            <a:off x="4282550" y="2235000"/>
            <a:ext cx="41886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Formulario web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JSP - Servlet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2"/>
          <p:cNvSpPr/>
          <p:nvPr/>
        </p:nvSpPr>
        <p:spPr>
          <a:xfrm>
            <a:off x="3908181" y="2074069"/>
            <a:ext cx="9144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2"/>
          <p:cNvSpPr/>
          <p:nvPr/>
        </p:nvSpPr>
        <p:spPr>
          <a:xfrm>
            <a:off x="2472104" y="1693069"/>
            <a:ext cx="9144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2"/>
          <p:cNvSpPr txBox="1"/>
          <p:nvPr>
            <p:ph type="title"/>
          </p:nvPr>
        </p:nvSpPr>
        <p:spPr>
          <a:xfrm>
            <a:off x="202200" y="306225"/>
            <a:ext cx="28047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JSP para capturar </a:t>
            </a:r>
            <a:r>
              <a:rPr lang="en-US"/>
              <a:t>i</a:t>
            </a:r>
            <a:r>
              <a:rPr lang="en-US"/>
              <a:t>nformación</a:t>
            </a:r>
            <a:endParaRPr/>
          </a:p>
        </p:txBody>
      </p:sp>
      <p:sp>
        <p:nvSpPr>
          <p:cNvPr id="376" name="Google Shape;376;p52"/>
          <p:cNvSpPr txBox="1"/>
          <p:nvPr>
            <p:ph idx="4294967295" type="body"/>
          </p:nvPr>
        </p:nvSpPr>
        <p:spPr>
          <a:xfrm>
            <a:off x="202200" y="1653350"/>
            <a:ext cx="28836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Formulario</a:t>
            </a: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eb:  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insertar_parque_nacional.jsp</a:t>
            </a:r>
            <a:endParaRPr sz="1700"/>
          </a:p>
        </p:txBody>
      </p:sp>
      <p:graphicFrame>
        <p:nvGraphicFramePr>
          <p:cNvPr id="377" name="Google Shape;377;p52"/>
          <p:cNvGraphicFramePr/>
          <p:nvPr/>
        </p:nvGraphicFramePr>
        <p:xfrm>
          <a:off x="3256225" y="48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{A08CFC29-6F67-4E2E-AB34-15249B1F499E}</a:tableStyleId>
              </a:tblPr>
              <a:tblGrid>
                <a:gridCol w="54227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999999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&lt;html lang=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"es"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&lt;head&gt;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&lt;meta charset=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"UTF-8"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&lt;title&gt;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Insertar Parque Nacional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&lt;/title&gt;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&lt;/head&gt;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&lt;body&gt;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&lt;form method=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"GET"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action=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"/WebApp/insertarParqueNacional"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Ingrese la información: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&lt;label for=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"idParque"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Identificación: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&lt;/label&gt;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&lt;input type=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"text"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"idParque"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name=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"idParque"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&gt;&lt;br&gt;&lt;br&gt;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&lt;label for=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"nombreParque"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 del Parque: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&lt;/label&gt;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&lt;input type=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"text"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"nombreParque"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name=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"nombreParque"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&gt;&lt;br&gt;&lt;br&gt;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&lt;input type=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"submit"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value=</a:t>
                      </a:r>
                      <a:r>
                        <a:rPr lang="en-US" sz="1100">
                          <a:solidFill>
                            <a:srgbClr val="219161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"Enviar"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&lt;/form&gt;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&lt;/body&gt;</a:t>
                      </a:r>
                      <a:br>
                        <a:rPr lang="en-US" sz="1100"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100">
                          <a:solidFill>
                            <a:srgbClr val="000080"/>
                          </a:solidFill>
                          <a:highlight>
                            <a:srgbClr val="F8F8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&lt;/html&gt;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F8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/>
        </p:nvSpPr>
        <p:spPr>
          <a:xfrm>
            <a:off x="1077058" y="3750469"/>
            <a:ext cx="8110904" cy="750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6238" lvl="0" marL="3762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presionar enviar:</a:t>
            </a:r>
            <a:endParaRPr/>
          </a:p>
          <a:p>
            <a:pPr indent="-376238" lvl="0" marL="376238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http://localhost:808</a:t>
            </a:r>
            <a:r>
              <a:rPr lang="en-US" sz="1500">
                <a:solidFill>
                  <a:schemeClr val="dk1"/>
                </a:solidFill>
              </a:rPr>
              <a:t>0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/WebApp2026/insertarParqueNacional?idParque=15&amp;nombreParque=Parque+Nacional+Tortuguero&amp;btnEnviar=Enviar</a:t>
            </a:r>
            <a:endParaRPr sz="1100"/>
          </a:p>
        </p:txBody>
      </p:sp>
      <p:sp>
        <p:nvSpPr>
          <p:cNvPr id="383" name="Google Shape;383;p53"/>
          <p:cNvSpPr/>
          <p:nvPr/>
        </p:nvSpPr>
        <p:spPr>
          <a:xfrm>
            <a:off x="3908181" y="2074069"/>
            <a:ext cx="9144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3"/>
          <p:cNvSpPr/>
          <p:nvPr/>
        </p:nvSpPr>
        <p:spPr>
          <a:xfrm>
            <a:off x="2472104" y="1693069"/>
            <a:ext cx="914400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3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JSP para capturar Información</a:t>
            </a:r>
            <a:endParaRPr/>
          </a:p>
        </p:txBody>
      </p:sp>
      <p:sp>
        <p:nvSpPr>
          <p:cNvPr id="386" name="Google Shape;386;p53"/>
          <p:cNvSpPr txBox="1"/>
          <p:nvPr>
            <p:ph idx="4294967295" type="body"/>
          </p:nvPr>
        </p:nvSpPr>
        <p:spPr>
          <a:xfrm>
            <a:off x="457200" y="777477"/>
            <a:ext cx="82296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 de Ejecución</a:t>
            </a:r>
            <a:endParaRPr sz="2000"/>
          </a:p>
        </p:txBody>
      </p:sp>
      <p:sp>
        <p:nvSpPr>
          <p:cNvPr id="387" name="Google Shape;387;p53"/>
          <p:cNvSpPr txBox="1"/>
          <p:nvPr/>
        </p:nvSpPr>
        <p:spPr>
          <a:xfrm>
            <a:off x="857250" y="2464594"/>
            <a:ext cx="2858700" cy="2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Insertar_parque_nacional.jsp</a:t>
            </a:r>
            <a:endParaRPr/>
          </a:p>
        </p:txBody>
      </p:sp>
      <p:pic>
        <p:nvPicPr>
          <p:cNvPr id="388" name="Google Shape;38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393031"/>
            <a:ext cx="4193931" cy="102155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pic>
      <p:sp>
        <p:nvSpPr>
          <p:cNvPr id="389" name="Google Shape;389;p53"/>
          <p:cNvSpPr/>
          <p:nvPr/>
        </p:nvSpPr>
        <p:spPr>
          <a:xfrm flipH="1">
            <a:off x="1340827" y="2357438"/>
            <a:ext cx="527538" cy="1393031"/>
          </a:xfrm>
          <a:custGeom>
            <a:rect b="b" l="l" r="r" t="t"/>
            <a:pathLst>
              <a:path extrusionOk="0" h="120000" w="120000">
                <a:moveTo>
                  <a:pt x="120000" y="0"/>
                </a:moveTo>
                <a:cubicBezTo>
                  <a:pt x="72158" y="1242"/>
                  <a:pt x="24317" y="2484"/>
                  <a:pt x="12158" y="19378"/>
                </a:cubicBezTo>
                <a:cubicBezTo>
                  <a:pt x="0" y="36273"/>
                  <a:pt x="36475" y="84596"/>
                  <a:pt x="47048" y="101366"/>
                </a:cubicBezTo>
                <a:cubicBezTo>
                  <a:pt x="57621" y="118136"/>
                  <a:pt x="75594" y="120000"/>
                  <a:pt x="75594" y="120000"/>
                </a:cubicBezTo>
                <a:lnTo>
                  <a:pt x="75594" y="120000"/>
                </a:lnTo>
              </a:path>
            </a:pathLst>
          </a:cu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3"/>
          <p:cNvSpPr/>
          <p:nvPr/>
        </p:nvSpPr>
        <p:spPr>
          <a:xfrm rot="-5400000">
            <a:off x="5378190" y="1438596"/>
            <a:ext cx="255985" cy="59348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8866" y="1017985"/>
            <a:ext cx="3280996" cy="129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6981" y="2946797"/>
            <a:ext cx="3305908" cy="76438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pic>
      <p:sp>
        <p:nvSpPr>
          <p:cNvPr id="393" name="Google Shape;393;p53"/>
          <p:cNvSpPr/>
          <p:nvPr/>
        </p:nvSpPr>
        <p:spPr>
          <a:xfrm>
            <a:off x="7055828" y="2357438"/>
            <a:ext cx="315057" cy="482204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3"/>
          <p:cNvSpPr/>
          <p:nvPr/>
        </p:nvSpPr>
        <p:spPr>
          <a:xfrm>
            <a:off x="5736974" y="3750469"/>
            <a:ext cx="2858700" cy="23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mostrar_parque_insertado.jsp</a:t>
            </a:r>
            <a:endParaRPr/>
          </a:p>
        </p:txBody>
      </p:sp>
      <p:pic>
        <p:nvPicPr>
          <p:cNvPr descr="Robot, Postit, Note, To Do, ..." id="395" name="Google Shape;395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575" y="4438410"/>
            <a:ext cx="884101" cy="6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4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Creación de un JSP para capturar Información</a:t>
            </a:r>
            <a:endParaRPr/>
          </a:p>
        </p:txBody>
      </p:sp>
      <p:sp>
        <p:nvSpPr>
          <p:cNvPr id="401" name="Google Shape;401;p54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Combinación JSP-Servlet-JSP</a:t>
            </a:r>
            <a:endParaRPr sz="1800"/>
          </a:p>
          <a:p>
            <a:pPr indent="-2476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JSP que contenga un formulario para capturar información del parque nacional</a:t>
            </a:r>
            <a:endParaRPr sz="1400"/>
          </a:p>
          <a:p>
            <a:pPr indent="-2476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Servlet que reciba la información enviada por el JSP</a:t>
            </a:r>
            <a:endParaRPr sz="1400"/>
          </a:p>
          <a:p>
            <a:pPr indent="-2476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JSP que despliegue la información del parque nacional recibida por el Servlet</a:t>
            </a:r>
            <a:endParaRPr sz="1400"/>
          </a:p>
        </p:txBody>
      </p:sp>
      <p:graphicFrame>
        <p:nvGraphicFramePr>
          <p:cNvPr id="402" name="Google Shape;402;p54"/>
          <p:cNvGraphicFramePr/>
          <p:nvPr/>
        </p:nvGraphicFramePr>
        <p:xfrm>
          <a:off x="1463135" y="36331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{A4DAECE8-6C76-4B44-BC96-D9B85F50494A}</a:tableStyleId>
              </a:tblPr>
              <a:tblGrid>
                <a:gridCol w="3846750"/>
                <a:gridCol w="3187925"/>
              </a:tblGrid>
              <a:tr h="27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JSP</a:t>
                      </a:r>
                      <a:endParaRPr sz="1100"/>
                    </a:p>
                  </a:txBody>
                  <a:tcPr marT="34325" marB="34325" marR="84425" marL="84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Servlet</a:t>
                      </a:r>
                      <a:endParaRPr sz="1400"/>
                    </a:p>
                  </a:txBody>
                  <a:tcPr marT="34325" marB="34325" marR="84425" marL="84425"/>
                </a:tc>
              </a:tr>
              <a:tr h="48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insertar_parque_nacional.jsp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mostrar_parque_insertado.jsp</a:t>
                      </a:r>
                      <a:endParaRPr sz="1100"/>
                    </a:p>
                  </a:txBody>
                  <a:tcPr marT="34325" marB="34325" marR="84425" marL="84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InsertarParqueNacionalServlet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25" marB="34325" marR="84425" marL="84425"/>
                </a:tc>
              </a:tr>
            </a:tbl>
          </a:graphicData>
        </a:graphic>
      </p:graphicFrame>
      <p:pic>
        <p:nvPicPr>
          <p:cNvPr descr="Robot, Postit, Note, To Do, ..." id="403" name="Google Shape;40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8" y="4023322"/>
            <a:ext cx="884101" cy="6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5"/>
          <p:cNvSpPr txBox="1"/>
          <p:nvPr>
            <p:ph type="title"/>
          </p:nvPr>
        </p:nvSpPr>
        <p:spPr>
          <a:xfrm>
            <a:off x="3445150" y="2235000"/>
            <a:ext cx="50259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Actividad de aprendizaje 2</a:t>
            </a:r>
            <a:endParaRPr/>
          </a:p>
        </p:txBody>
      </p:sp>
      <p:pic>
        <p:nvPicPr>
          <p:cNvPr descr="Robot, Postit, Note, To Do, ..." id="410" name="Google Shape;41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8" y="4023322"/>
            <a:ext cx="884100" cy="6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Tarea </a:t>
            </a:r>
            <a:r>
              <a:rPr lang="en-US"/>
              <a:t>1</a:t>
            </a:r>
            <a:endParaRPr/>
          </a:p>
        </p:txBody>
      </p:sp>
      <p:sp>
        <p:nvSpPr>
          <p:cNvPr id="416" name="Google Shape;416;p56"/>
          <p:cNvSpPr txBox="1"/>
          <p:nvPr>
            <p:ph idx="4294967295" type="body"/>
          </p:nvPr>
        </p:nvSpPr>
        <p:spPr>
          <a:xfrm>
            <a:off x="457200" y="1063228"/>
            <a:ext cx="8229600" cy="362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Generar un interfaz con una tabla de 12x12 con números aleatorios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▪"/>
            </a:pP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La matriz debe generarse en un servlet y un JSP se encargará de mostrarla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7"/>
          <p:cNvSpPr txBox="1"/>
          <p:nvPr>
            <p:ph type="title"/>
          </p:nvPr>
        </p:nvSpPr>
        <p:spPr>
          <a:xfrm>
            <a:off x="202200" y="306225"/>
            <a:ext cx="873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Referencias</a:t>
            </a:r>
            <a:endParaRPr/>
          </a:p>
        </p:txBody>
      </p:sp>
      <p:pic>
        <p:nvPicPr>
          <p:cNvPr descr="Firma_Vertical_FTransp_3.gif" id="422" name="Google Shape;42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23" y="4446985"/>
            <a:ext cx="659400" cy="46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7"/>
          <p:cNvSpPr txBox="1"/>
          <p:nvPr>
            <p:ph idx="4294967295" type="body"/>
          </p:nvPr>
        </p:nvSpPr>
        <p:spPr>
          <a:xfrm>
            <a:off x="329400" y="823825"/>
            <a:ext cx="8229600" cy="3037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Eclipse </a:t>
            </a:r>
            <a:r>
              <a:rPr lang="en-US" sz="1400">
                <a:solidFill>
                  <a:schemeClr val="dk1"/>
                </a:solidFill>
              </a:rPr>
              <a:t>(s.f.). </a:t>
            </a:r>
            <a:r>
              <a:rPr lang="en-US" sz="1400">
                <a:solidFill>
                  <a:schemeClr val="dk1"/>
                </a:solidFill>
              </a:rPr>
              <a:t>Jakarta EE Tutorial</a:t>
            </a:r>
            <a:r>
              <a:rPr lang="en-US" sz="1400">
                <a:solidFill>
                  <a:schemeClr val="dk1"/>
                </a:solidFill>
              </a:rPr>
              <a:t>. Disponible en: </a:t>
            </a:r>
            <a:r>
              <a:rPr lang="en-US" sz="1400">
                <a:solidFill>
                  <a:schemeClr val="dk1"/>
                </a:solidFill>
              </a:rPr>
              <a:t>https://jakarta.ee/learn/docs/jakartaee-tutorial/current/web/webapp/webapp.html</a:t>
            </a:r>
            <a:endParaRPr sz="1400">
              <a:solidFill>
                <a:schemeClr val="dk1"/>
              </a:solidFill>
            </a:endParaRPr>
          </a:p>
          <a:p>
            <a:pPr indent="-165100" lvl="0" marL="40005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{Sección </a:t>
            </a:r>
            <a:r>
              <a:rPr lang="en-US" sz="1400">
                <a:solidFill>
                  <a:schemeClr val="dk1"/>
                </a:solidFill>
              </a:rPr>
              <a:t>Getting Started with Web Applications</a:t>
            </a:r>
            <a:r>
              <a:rPr lang="en-US" sz="1400">
                <a:solidFill>
                  <a:schemeClr val="dk1"/>
                </a:solidFill>
              </a:rPr>
              <a:t>}</a:t>
            </a:r>
            <a:endParaRPr sz="1400">
              <a:solidFill>
                <a:schemeClr val="dk1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Shklar, L., Rosen, R. (2009). Web application Architecture: Principles, Protocols and Practices.  2da. Edición. USA: Wiley </a:t>
            </a:r>
            <a:endParaRPr sz="1400">
              <a:solidFill>
                <a:schemeClr val="dk1"/>
              </a:solidFill>
            </a:endParaRPr>
          </a:p>
          <a:p>
            <a:pPr indent="-165100" lvl="0" marL="40005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{Cap. 1 – Introduction }</a:t>
            </a:r>
            <a:endParaRPr sz="1400">
              <a:solidFill>
                <a:schemeClr val="dk1"/>
              </a:solidFill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Stefano, C. et al. (2003)  Designing Data Intensive Web Applications. USA:Morgan Kaufmann Publishers.</a:t>
            </a:r>
            <a:endParaRPr sz="1400">
              <a:solidFill>
                <a:schemeClr val="dk1"/>
              </a:solidFill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	Cap. 1  Technologies for Web Applications – Lectura: Sección “HTTP and HTML: The Foundation of Web Technology”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2">
  <a:themeElements>
    <a:clrScheme name="Diseño personaliz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